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0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472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01488" y="105156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_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514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8036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Recognition in AI Chatbots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1605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conversational systems interpret user goals from natural language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-274320" y="4114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_hel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86384"/>
            <a:ext cx="484632" cy="4846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Intent</a:t>
            </a:r>
            <a:endParaRPr lang="en-US" sz="27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Recognition?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502920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NLU TASK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960120"/>
            <a:ext cx="7162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recognition </a:t>
            </a: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of identifying the underlying goal behind a user's message so a chatbot knows which action to take.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2240280"/>
          <a:ext cx="7162495" cy="2011680"/>
        </p:xfrm>
        <a:graphic>
          <a:graphicData uri="http://schemas.openxmlformats.org/drawingml/2006/table">
            <a:tbl>
              <a:tblPr/>
              <a:tblGrid>
                <a:gridCol w="4154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User Utterance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Recognized Intent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1B1F2A"/>
                          </a:solidFill>
                        </a:rPr>
                        <a:t>“Book a flight to Paris”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BookFlight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1B1F2A"/>
                          </a:solidFill>
                        </a:rPr>
                        <a:t>“What’s my order status?”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CheckOrderStatus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1B1F2A"/>
                          </a:solidFill>
                        </a:rPr>
                        <a:t>“Cancel my subscription”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CancelSubscription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480560" y="4617720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mapping language to intent is the first link in every automated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-274320" y="4114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_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86384"/>
            <a:ext cx="484632" cy="4846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Intent</a:t>
            </a:r>
            <a:endParaRPr lang="en-US" sz="27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Matters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502920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UX IMPACT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960120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4F8FB"/>
          </a:solidFill>
          <a:ln w="9525">
            <a:solidFill>
              <a:srgbClr val="E3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81728" y="11795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681728" y="1179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014984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Routing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each query straight to the correct skill, flow, or backend service.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80560" y="2167128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3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81728" y="23865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681728" y="2386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2221992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generic fallback replies means faster, more natural conversations.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480560" y="3374136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4F8FB"/>
          </a:solidFill>
          <a:ln w="9525">
            <a:solidFill>
              <a:srgbClr val="E3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81728" y="35935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681728" y="3593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3429000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Efficiency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routine requests complete end-to-end without a human agent.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480560" y="4581144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3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681728" y="48006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681728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4636008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growing catalogs of intents as products and use cases expand.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-274320" y="4114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_pipe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86384"/>
            <a:ext cx="484632" cy="4846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502920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UTTERANCE TO ACTION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960120"/>
            <a:ext cx="7162495" cy="658368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108813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645152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93792" y="960120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Utterance  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or speech input from the user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 rot="10800000">
            <a:off x="7979512" y="1764792"/>
            <a:ext cx="164592" cy="164592"/>
          </a:xfrm>
          <a:prstGeom prst="triangl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80560" y="2075688"/>
            <a:ext cx="7162495" cy="658368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45152" y="220370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645152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193792" y="2075688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normalize, remove noise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 rot="10800000">
            <a:off x="7979512" y="2880360"/>
            <a:ext cx="164592" cy="164592"/>
          </a:xfrm>
          <a:prstGeom prst="triangl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480560" y="3191256"/>
            <a:ext cx="7162495" cy="658368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45152" y="331927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645152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193792" y="3191256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 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embeddings or vectors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 rot="10800000">
            <a:off x="7979512" y="3995928"/>
            <a:ext cx="164592" cy="164592"/>
          </a:xfrm>
          <a:prstGeom prst="triangl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480560" y="4306824"/>
            <a:ext cx="7162495" cy="658368"/>
          </a:xfrm>
          <a:prstGeom prst="roundRect">
            <a:avLst>
              <a:gd name="adj" fmla="val 12500"/>
            </a:avLst>
          </a:prstGeom>
          <a:solidFill>
            <a:srgbClr val="EAF2F8"/>
          </a:solidFill>
          <a:ln w="1270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45152" y="443484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645152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193792" y="4306824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  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utterance against known intents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 rot="10800000">
            <a:off x="7979512" y="5111496"/>
            <a:ext cx="164592" cy="164592"/>
          </a:xfrm>
          <a:prstGeom prst="triangl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480560" y="5422392"/>
            <a:ext cx="7162495" cy="65836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645152" y="555040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645152" y="5550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193792" y="5422392"/>
            <a:ext cx="6248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Intent   </a:t>
            </a:r>
            <a:r>
              <a:rPr lang="en-US" sz="1200" dirty="0">
                <a:solidFill>
                  <a:srgbClr val="E8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intent label + confidence score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-274320" y="4114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_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86384"/>
            <a:ext cx="484632" cy="4846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&amp;</a:t>
            </a:r>
            <a:endParaRPr lang="en-US" sz="27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Approaches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502920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OF METHODS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960120"/>
            <a:ext cx="2235098" cy="4160520"/>
          </a:xfrm>
          <a:prstGeom prst="roundRect">
            <a:avLst>
              <a:gd name="adj" fmla="val 3682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80560" y="960120"/>
            <a:ext cx="2235098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617720" y="960120"/>
            <a:ext cx="1960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81728" y="182880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864608" y="1673352"/>
            <a:ext cx="1686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pattern matching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81728" y="278892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864608" y="2633472"/>
            <a:ext cx="1686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fully interpretable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81728" y="374904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864608" y="3593592"/>
            <a:ext cx="1686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to phrasing variation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944258" y="960120"/>
            <a:ext cx="2235098" cy="4160520"/>
          </a:xfrm>
          <a:prstGeom prst="roundRect">
            <a:avLst>
              <a:gd name="adj" fmla="val 3682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944258" y="960120"/>
            <a:ext cx="2235098" cy="5669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081418" y="960120"/>
            <a:ext cx="1960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 Machine Learning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7145426" y="18288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328306" y="1673352"/>
            <a:ext cx="1686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Naive Bayes on TF-IDF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145426" y="27889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328306" y="2633472"/>
            <a:ext cx="1686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labeled training data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145426" y="374904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328306" y="3593592"/>
            <a:ext cx="1686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accuracy, low cost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407957" y="960120"/>
            <a:ext cx="2235098" cy="4160520"/>
          </a:xfrm>
          <a:prstGeom prst="roundRect">
            <a:avLst>
              <a:gd name="adj" fmla="val 3682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407957" y="960120"/>
            <a:ext cx="2235098" cy="56692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9545117" y="960120"/>
            <a:ext cx="19607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&amp; Transformers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9609125" y="1828800"/>
            <a:ext cx="91440" cy="914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9792005" y="1673352"/>
            <a:ext cx="1686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BERT-style / LLM embeddings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9609125" y="2788920"/>
            <a:ext cx="91440" cy="914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9792005" y="2633472"/>
            <a:ext cx="1686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Context-aware, high accuracy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609125" y="3749040"/>
            <a:ext cx="91440" cy="914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9792005" y="3593592"/>
            <a:ext cx="1686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data intensive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-274320" y="4114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86384"/>
            <a:ext cx="484632" cy="4846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502920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INTENT MODELS STRUGGLE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960120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BF3EC"/>
          </a:solidFill>
          <a:ln w="9525">
            <a:solidFill>
              <a:srgbClr val="F0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81728" y="1179576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984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014984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Utterances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phrase can plausibly map to more than one intent.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480560" y="2167128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0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681728" y="2386584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icons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50545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40680" y="2221992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Multi-Intent Queries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message can carry several distinct user goals at once.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480560" y="3374136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BF3EC"/>
          </a:solidFill>
          <a:ln w="9525">
            <a:solidFill>
              <a:srgbClr val="F0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681728" y="359359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icons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1246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40680" y="3429000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Coreference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meaning often depends on what was said in prior turns.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480560" y="4581144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0E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681728" y="480060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icons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919472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40680" y="4636008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Detection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recognize when no known intent actually fits.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-274320" y="4114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_gri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86384"/>
            <a:ext cx="484632" cy="4846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</a:t>
            </a:r>
            <a:endParaRPr lang="en-US" sz="27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502920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INTENT RECOGNITION IS USED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960120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EAF2F8"/>
          </a:solidFill>
          <a:ln w="9525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81728" y="117957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681728" y="1179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014984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Bots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FAQs, order tracking, and ticket triage without an agent.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80560" y="2167128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81728" y="238658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681728" y="2386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2221992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voice assistants for scheduling, reminders, and smart-home control.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480560" y="3374136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EAF2F8"/>
          </a:solidFill>
          <a:ln w="9525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81728" y="35935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681728" y="3593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3429000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Retail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product search, cart actions, and personalized recommendations.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480560" y="4581144"/>
            <a:ext cx="716249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681728" y="4800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681728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4636008"/>
            <a:ext cx="60194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Triage
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symptom checks and appointment scheduling assistants.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-274320" y="41148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_slid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86384"/>
            <a:ext cx="484632" cy="4846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TOOLS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&amp;</a:t>
            </a:r>
            <a:endParaRPr lang="en-US" sz="27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Systems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502920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ASSESS AND SHIP MODELS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960120"/>
            <a:ext cx="3421228" cy="4434840"/>
          </a:xfrm>
          <a:prstGeom prst="roundRect">
            <a:avLst>
              <a:gd name="adj" fmla="val 2405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80560" y="960120"/>
            <a:ext cx="3421228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645152" y="960120"/>
            <a:ext cx="3092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81728" y="182880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864608" y="1645920"/>
            <a:ext cx="287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utterances assigned the correct intent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81728" y="2724912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864608" y="2542032"/>
            <a:ext cx="287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intents, how many were actually correct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81728" y="362102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864608" y="3438144"/>
            <a:ext cx="287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true intents, how many the model actually caught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81728" y="4517136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864608" y="4334256"/>
            <a:ext cx="287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—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between precision and recall in one number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1828" y="960120"/>
            <a:ext cx="3421228" cy="4434840"/>
          </a:xfrm>
          <a:prstGeom prst="roundRect">
            <a:avLst>
              <a:gd name="adj" fmla="val 2405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221828" y="960120"/>
            <a:ext cx="3421228" cy="566928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386420" y="960120"/>
            <a:ext cx="30920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Frameworks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422996" y="1828800"/>
            <a:ext cx="91440" cy="914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8605876" y="1645920"/>
            <a:ext cx="287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—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framework for custom NLU pipelines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422996" y="2724912"/>
            <a:ext cx="91440" cy="914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605876" y="2542032"/>
            <a:ext cx="287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—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managed conversational-agent platform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422996" y="3621024"/>
            <a:ext cx="91440" cy="914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8605876" y="3438144"/>
            <a:ext cx="287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Lex —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 for voice and text bots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422996" y="4517136"/>
            <a:ext cx="91440" cy="914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8605876" y="4334256"/>
            <a:ext cx="287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 —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models for custom intent classifiers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Microsoft Office PowerPoint</Application>
  <PresentationFormat>Widescreen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Harshitha Puthalapattu</cp:lastModifiedBy>
  <cp:revision>1</cp:revision>
  <dcterms:created xsi:type="dcterms:W3CDTF">2026-08-29T08:22:45Z</dcterms:created>
  <dcterms:modified xsi:type="dcterms:W3CDTF">2026-09-03T09:03:47Z</dcterms:modified>
</cp:coreProperties>
</file>