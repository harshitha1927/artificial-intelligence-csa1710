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4" r:id="rId7"/>
    <p:sldId id="265" r:id="rId8"/>
    <p:sldId id="266" r:id="rId9"/>
    <p:sldId id="267" r:id="rId10"/>
    <p:sldId id="268" r:id="rId11"/>
    <p:sldId id="269" r:id="rId12"/>
    <p:sldId id="270" r:id="rId13"/>
    <p:sldId id="271" r:id="rId14"/>
    <p:sldId id="272" r:id="rId15"/>
    <p:sldId id="273" r:id="rId16"/>
    <p:sldId id="263" r:id="rId17"/>
    <p:sldId id="274" r:id="rId18"/>
    <p:sldId id="277" r:id="rId19"/>
    <p:sldId id="280" r:id="rId20"/>
    <p:sldId id="281" r:id="rId21"/>
    <p:sldId id="28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E52158-20C6-45C5-AF08-33EC532A9450}" v="4" dt="2026-08-13T04:30:02.5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549" autoAdjust="0"/>
  </p:normalViewPr>
  <p:slideViewPr>
    <p:cSldViewPr snapToGrid="0" snapToObjects="1">
      <p:cViewPr>
        <p:scale>
          <a:sx n="75" d="100"/>
          <a:sy n="75" d="100"/>
        </p:scale>
        <p:origin x="94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ug life" userId="f8726e46e814ba59" providerId="LiveId" clId="{B2A05AF2-AEDB-4940-A827-6FFA10E072A4}"/>
    <pc:docChg chg="custSel delSld modSld sldOrd">
      <pc:chgData name="thug life" userId="f8726e46e814ba59" providerId="LiveId" clId="{B2A05AF2-AEDB-4940-A827-6FFA10E072A4}" dt="2026-08-13T04:35:09.488" v="22"/>
      <pc:docMkLst>
        <pc:docMk/>
      </pc:docMkLst>
      <pc:sldChg chg="modSp mod">
        <pc:chgData name="thug life" userId="f8726e46e814ba59" providerId="LiveId" clId="{B2A05AF2-AEDB-4940-A827-6FFA10E072A4}" dt="2026-08-13T04:09:37.226" v="7" actId="1076"/>
        <pc:sldMkLst>
          <pc:docMk/>
          <pc:sldMk cId="0" sldId="256"/>
        </pc:sldMkLst>
        <pc:spChg chg="mod">
          <ac:chgData name="thug life" userId="f8726e46e814ba59" providerId="LiveId" clId="{B2A05AF2-AEDB-4940-A827-6FFA10E072A4}" dt="2026-08-13T04:09:14.828" v="4" actId="403"/>
          <ac:spMkLst>
            <pc:docMk/>
            <pc:sldMk cId="0" sldId="256"/>
            <ac:spMk id="7" creationId="{00000000-0000-0000-0000-000000000000}"/>
          </ac:spMkLst>
        </pc:spChg>
        <pc:spChg chg="mod">
          <ac:chgData name="thug life" userId="f8726e46e814ba59" providerId="LiveId" clId="{B2A05AF2-AEDB-4940-A827-6FFA10E072A4}" dt="2026-08-13T04:09:37.226" v="7" actId="1076"/>
          <ac:spMkLst>
            <pc:docMk/>
            <pc:sldMk cId="0" sldId="256"/>
            <ac:spMk id="8" creationId="{00000000-0000-0000-0000-000000000000}"/>
          </ac:spMkLst>
        </pc:spChg>
      </pc:sldChg>
      <pc:sldChg chg="del">
        <pc:chgData name="thug life" userId="f8726e46e814ba59" providerId="LiveId" clId="{B2A05AF2-AEDB-4940-A827-6FFA10E072A4}" dt="2026-08-13T04:13:40.985" v="14" actId="2696"/>
        <pc:sldMkLst>
          <pc:docMk/>
          <pc:sldMk cId="0" sldId="262"/>
        </pc:sldMkLst>
      </pc:sldChg>
      <pc:sldChg chg="addSp delSp modSp mod ord modNotesTx">
        <pc:chgData name="thug life" userId="f8726e46e814ba59" providerId="LiveId" clId="{B2A05AF2-AEDB-4940-A827-6FFA10E072A4}" dt="2026-08-13T04:35:09.488" v="22"/>
        <pc:sldMkLst>
          <pc:docMk/>
          <pc:sldMk cId="0" sldId="263"/>
        </pc:sldMkLst>
        <pc:spChg chg="del">
          <ac:chgData name="thug life" userId="f8726e46e814ba59" providerId="LiveId" clId="{B2A05AF2-AEDB-4940-A827-6FFA10E072A4}" dt="2026-08-13T04:09:59.613" v="8" actId="478"/>
          <ac:spMkLst>
            <pc:docMk/>
            <pc:sldMk cId="0" sldId="263"/>
            <ac:spMk id="7" creationId="{00000000-0000-0000-0000-000000000000}"/>
          </ac:spMkLst>
        </pc:spChg>
        <pc:spChg chg="del">
          <ac:chgData name="thug life" userId="f8726e46e814ba59" providerId="LiveId" clId="{B2A05AF2-AEDB-4940-A827-6FFA10E072A4}" dt="2026-08-13T04:09:59.613" v="8" actId="478"/>
          <ac:spMkLst>
            <pc:docMk/>
            <pc:sldMk cId="0" sldId="263"/>
            <ac:spMk id="10" creationId="{00000000-0000-0000-0000-000000000000}"/>
          </ac:spMkLst>
        </pc:spChg>
        <pc:spChg chg="del">
          <ac:chgData name="thug life" userId="f8726e46e814ba59" providerId="LiveId" clId="{B2A05AF2-AEDB-4940-A827-6FFA10E072A4}" dt="2026-08-13T04:09:59.613" v="8" actId="478"/>
          <ac:spMkLst>
            <pc:docMk/>
            <pc:sldMk cId="0" sldId="263"/>
            <ac:spMk id="13" creationId="{00000000-0000-0000-0000-000000000000}"/>
          </ac:spMkLst>
        </pc:spChg>
        <pc:spChg chg="del">
          <ac:chgData name="thug life" userId="f8726e46e814ba59" providerId="LiveId" clId="{B2A05AF2-AEDB-4940-A827-6FFA10E072A4}" dt="2026-08-13T04:09:59.613" v="8" actId="478"/>
          <ac:spMkLst>
            <pc:docMk/>
            <pc:sldMk cId="0" sldId="263"/>
            <ac:spMk id="17" creationId="{00000000-0000-0000-0000-000000000000}"/>
          </ac:spMkLst>
        </pc:spChg>
        <pc:spChg chg="del">
          <ac:chgData name="thug life" userId="f8726e46e814ba59" providerId="LiveId" clId="{B2A05AF2-AEDB-4940-A827-6FFA10E072A4}" dt="2026-08-13T04:09:59.613" v="8" actId="478"/>
          <ac:spMkLst>
            <pc:docMk/>
            <pc:sldMk cId="0" sldId="263"/>
            <ac:spMk id="18" creationId="{00000000-0000-0000-0000-000000000000}"/>
          </ac:spMkLst>
        </pc:spChg>
        <pc:spChg chg="del">
          <ac:chgData name="thug life" userId="f8726e46e814ba59" providerId="LiveId" clId="{B2A05AF2-AEDB-4940-A827-6FFA10E072A4}" dt="2026-08-13T04:09:59.613" v="8" actId="478"/>
          <ac:spMkLst>
            <pc:docMk/>
            <pc:sldMk cId="0" sldId="263"/>
            <ac:spMk id="19" creationId="{00000000-0000-0000-0000-000000000000}"/>
          </ac:spMkLst>
        </pc:spChg>
        <pc:spChg chg="del">
          <ac:chgData name="thug life" userId="f8726e46e814ba59" providerId="LiveId" clId="{B2A05AF2-AEDB-4940-A827-6FFA10E072A4}" dt="2026-08-13T04:09:59.613" v="8" actId="478"/>
          <ac:spMkLst>
            <pc:docMk/>
            <pc:sldMk cId="0" sldId="263"/>
            <ac:spMk id="23" creationId="{00000000-0000-0000-0000-000000000000}"/>
          </ac:spMkLst>
        </pc:spChg>
        <pc:spChg chg="del">
          <ac:chgData name="thug life" userId="f8726e46e814ba59" providerId="LiveId" clId="{B2A05AF2-AEDB-4940-A827-6FFA10E072A4}" dt="2026-08-13T04:09:59.613" v="8" actId="478"/>
          <ac:spMkLst>
            <pc:docMk/>
            <pc:sldMk cId="0" sldId="263"/>
            <ac:spMk id="27" creationId="{00000000-0000-0000-0000-000000000000}"/>
          </ac:spMkLst>
        </pc:spChg>
        <pc:spChg chg="del">
          <ac:chgData name="thug life" userId="f8726e46e814ba59" providerId="LiveId" clId="{B2A05AF2-AEDB-4940-A827-6FFA10E072A4}" dt="2026-08-13T04:09:59.613" v="8" actId="478"/>
          <ac:spMkLst>
            <pc:docMk/>
            <pc:sldMk cId="0" sldId="263"/>
            <ac:spMk id="30" creationId="{00000000-0000-0000-0000-000000000000}"/>
          </ac:spMkLst>
        </pc:spChg>
        <pc:spChg chg="del">
          <ac:chgData name="thug life" userId="f8726e46e814ba59" providerId="LiveId" clId="{B2A05AF2-AEDB-4940-A827-6FFA10E072A4}" dt="2026-08-13T04:09:59.613" v="8" actId="478"/>
          <ac:spMkLst>
            <pc:docMk/>
            <pc:sldMk cId="0" sldId="263"/>
            <ac:spMk id="32" creationId="{00000000-0000-0000-0000-000000000000}"/>
          </ac:spMkLst>
        </pc:spChg>
        <pc:picChg chg="add mod modCrop">
          <ac:chgData name="thug life" userId="f8726e46e814ba59" providerId="LiveId" clId="{B2A05AF2-AEDB-4940-A827-6FFA10E072A4}" dt="2026-08-13T04:31:45.852" v="20" actId="1076"/>
          <ac:picMkLst>
            <pc:docMk/>
            <pc:sldMk cId="0" sldId="263"/>
            <ac:picMk id="36" creationId="{2C0F3AAA-F075-4E0B-4091-E576B4EF7C8C}"/>
          </ac:picMkLst>
        </pc:picChg>
      </pc:sldChg>
      <pc:sldChg chg="modSp mod">
        <pc:chgData name="thug life" userId="f8726e46e814ba59" providerId="LiveId" clId="{B2A05AF2-AEDB-4940-A827-6FFA10E072A4}" dt="2026-08-13T04:17:00.642" v="15" actId="1076"/>
        <pc:sldMkLst>
          <pc:docMk/>
          <pc:sldMk cId="0" sldId="265"/>
        </pc:sldMkLst>
        <pc:picChg chg="mod">
          <ac:chgData name="thug life" userId="f8726e46e814ba59" providerId="LiveId" clId="{B2A05AF2-AEDB-4940-A827-6FFA10E072A4}" dt="2026-08-13T04:17:00.642" v="15" actId="1076"/>
          <ac:picMkLst>
            <pc:docMk/>
            <pc:sldMk cId="0" sldId="265"/>
            <ac:picMk id="6" creationId="{00000000-0000-0000-0000-000000000000}"/>
          </ac:picMkLst>
        </pc:picChg>
      </pc:sldChg>
      <pc:sldChg chg="del">
        <pc:chgData name="thug life" userId="f8726e46e814ba59" providerId="LiveId" clId="{B2A05AF2-AEDB-4940-A827-6FFA10E072A4}" dt="2026-08-13T04:19:41.168" v="16" actId="2696"/>
        <pc:sldMkLst>
          <pc:docMk/>
          <pc:sldMk cId="0"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7741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lgn="l">
              <a:lnSpc>
                <a:spcPct val="105000"/>
              </a:lnSpc>
              <a:spcAft>
                <a:spcPts val="12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Most existing chatbots rely on either scripted rules or generic LLMs, lacking verified medical grounding.</a:t>
            </a:r>
            <a:endParaRPr lang="en-US" sz="1200" dirty="0"/>
          </a:p>
          <a:p>
            <a:pPr marL="342900" indent="-342900" algn="l">
              <a:lnSpc>
                <a:spcPct val="105000"/>
              </a:lnSpc>
              <a:spcAft>
                <a:spcPts val="12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Context retention across multi-turn healthcare conversations remains weak in current systems.</a:t>
            </a:r>
            <a:endParaRPr lang="en-US" sz="1200" dirty="0"/>
          </a:p>
          <a:p>
            <a:pPr marL="342900" indent="-342900" algn="l">
              <a:lnSpc>
                <a:spcPct val="105000"/>
              </a:lnSpc>
              <a:spcAft>
                <a:spcPts val="12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Few systems include a dedicated confidence or safety-validation layer before delivering responses.</a:t>
            </a:r>
            <a:endParaRPr lang="en-US" sz="1200" dirty="0"/>
          </a:p>
          <a:p>
            <a:pPr marL="342900" indent="-342900" algn="l">
              <a:lnSpc>
                <a:spcPct val="105000"/>
              </a:lnSpc>
              <a:spcAft>
                <a:spcPts val="12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Domain-specific knowledge bases are rarely integrated directly into the response-generation pipeline.</a:t>
            </a:r>
            <a:endParaRPr lang="en-US" sz="1200" dirty="0"/>
          </a:p>
          <a:p>
            <a:pPr marL="342900" indent="-342900" algn="l">
              <a:lnSpc>
                <a:spcPct val="105000"/>
              </a:lnSpc>
              <a:spcAft>
                <a:spcPts val="12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Personalization based on user history and prior interactions is largely unexplored.</a:t>
            </a:r>
            <a:endParaRPr lang="en-US" sz="1200" dirty="0"/>
          </a:p>
          <a:p>
            <a:pPr marL="342900" indent="-342900" algn="l">
              <a:lnSpc>
                <a:spcPct val="105000"/>
              </a:lnSpc>
              <a:spcAft>
                <a:spcPts val="12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These gaps motivate a unified, safety-aware, knowledge-integrated conversational framework.</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RAG (Retrieval-Augmented Generation)</a:t>
            </a:r>
            <a:r>
              <a:rPr lang="en-IN" dirty="0"/>
              <a:t> -retrieves relevant healthcare information before generating an answer.</a:t>
            </a:r>
          </a:p>
          <a:p>
            <a:r>
              <a:rPr lang="en-IN" b="1" dirty="0"/>
              <a:t>User → Chat Interface:</a:t>
            </a:r>
            <a:br>
              <a:rPr lang="en-IN" dirty="0"/>
            </a:br>
            <a:r>
              <a:rPr lang="en-IN" dirty="0"/>
              <a:t>The user enters a healthcare question through the chatbot.</a:t>
            </a:r>
          </a:p>
          <a:p>
            <a:r>
              <a:rPr lang="en-IN" b="1" dirty="0"/>
              <a:t>Module 2 – Query Processing:</a:t>
            </a:r>
            <a:br>
              <a:rPr lang="en-IN" dirty="0"/>
            </a:br>
            <a:r>
              <a:rPr lang="en-IN" dirty="0"/>
              <a:t>The system understands the question using NLP, identifies the </a:t>
            </a:r>
            <a:r>
              <a:rPr lang="en-IN" b="1" dirty="0"/>
              <a:t>intent and medical entities</a:t>
            </a:r>
            <a:r>
              <a:rPr lang="en-IN" dirty="0"/>
              <a:t>, and checks previous conversation context.</a:t>
            </a:r>
          </a:p>
          <a:p>
            <a:r>
              <a:rPr lang="en-IN" b="1" dirty="0"/>
              <a:t>Module 1 – Healthcare Knowledge Integration:</a:t>
            </a:r>
            <a:br>
              <a:rPr lang="en-IN" dirty="0"/>
            </a:br>
            <a:r>
              <a:rPr lang="en-IN" dirty="0"/>
              <a:t>The system searches the healthcare knowledge base using </a:t>
            </a:r>
            <a:r>
              <a:rPr lang="en-IN" b="1" dirty="0"/>
              <a:t>embeddings and a vector database</a:t>
            </a:r>
            <a:r>
              <a:rPr lang="en-IN" dirty="0"/>
              <a:t> and retrieves the most relevant information.</a:t>
            </a:r>
          </a:p>
          <a:p>
            <a:r>
              <a:rPr lang="en-IN" b="1" dirty="0"/>
              <a:t>Module 3 – Intelligent Response Generation:</a:t>
            </a:r>
            <a:br>
              <a:rPr lang="en-IN" dirty="0"/>
            </a:br>
            <a:r>
              <a:rPr lang="en-IN" dirty="0"/>
              <a:t>The retrieved information, user query, and conversation context are provided to the </a:t>
            </a:r>
            <a:r>
              <a:rPr lang="en-IN" b="1" dirty="0"/>
              <a:t>LLM</a:t>
            </a:r>
            <a:r>
              <a:rPr lang="en-IN" dirty="0"/>
              <a:t>. The LLM generates a natural-language response.</a:t>
            </a:r>
          </a:p>
          <a:p>
            <a:r>
              <a:rPr lang="en-IN" b="1" dirty="0"/>
              <a:t>Safety Validation:</a:t>
            </a:r>
            <a:br>
              <a:rPr lang="en-IN" dirty="0"/>
            </a:br>
            <a:r>
              <a:rPr lang="en-IN" dirty="0"/>
              <a:t>The response is checked before being shown to the user. The chatbot should provide healthcare information, </a:t>
            </a:r>
            <a:r>
              <a:rPr lang="en-IN" b="1" dirty="0"/>
              <a:t>not claim to diagnose or replace a healthcare professional</a:t>
            </a:r>
            <a:r>
              <a:rPr lang="en-IN"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project is an intelligent conversational AI chatbot designed specifically for healthcare. Unlike a general chatbot, our system integrates a healthcare domain knowledge base with a Large Language Model using Retrieval-Augmented Generation. When a user enters a healthcare query, the system first processes the query using NLP to identify the intent, medical entities, and conversational context. It then retrieves relevant information from the healthcare knowledge base using semantic search and a vector database. The retrieved information is combined with the user's query and conversation history and provided to the LLM, which generates a natural-language response. A safety validation layer checks the response before displaying it to the user. The system is intended to provide healthcare information and assistance, not to replace professional medical diagnosis or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jpg"/><Relationship Id="rId9"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Text 0"/>
          <p:cNvSpPr/>
          <p:nvPr/>
        </p:nvSpPr>
        <p:spPr>
          <a:xfrm>
            <a:off x="914400" y="1737360"/>
            <a:ext cx="10360152" cy="1463040"/>
          </a:xfrm>
          <a:prstGeom prst="rect">
            <a:avLst/>
          </a:prstGeom>
          <a:noFill/>
          <a:ln/>
        </p:spPr>
        <p:txBody>
          <a:bodyPr wrap="square" rtlCol="0" anchor="ctr"/>
          <a:lstStyle/>
          <a:p>
            <a:pPr marL="0" indent="0" algn="ctr">
              <a:buNone/>
            </a:pPr>
            <a:r>
              <a:rPr lang="en-US" sz="3200" b="1" dirty="0">
                <a:solidFill>
                  <a:srgbClr val="1F3864"/>
                </a:solidFill>
                <a:latin typeface="Times New Roman" pitchFamily="34" charset="0"/>
                <a:ea typeface="Times New Roman" pitchFamily="34" charset="-122"/>
                <a:cs typeface="Times New Roman" pitchFamily="34" charset="-120"/>
              </a:rPr>
              <a:t>Intelligent Conversational AI Chatbot with Domain</a:t>
            </a:r>
            <a:endParaRPr lang="en-US" sz="3200" dirty="0"/>
          </a:p>
          <a:p>
            <a:pPr marL="0" indent="0" algn="ctr">
              <a:buNone/>
            </a:pPr>
            <a:r>
              <a:rPr lang="en-US" sz="3200" b="1" dirty="0">
                <a:solidFill>
                  <a:srgbClr val="1F3864"/>
                </a:solidFill>
                <a:latin typeface="Times New Roman" pitchFamily="34" charset="0"/>
                <a:ea typeface="Times New Roman" pitchFamily="34" charset="-122"/>
                <a:cs typeface="Times New Roman" pitchFamily="34" charset="-120"/>
              </a:rPr>
              <a:t>Knowledge Integration for Healthcare</a:t>
            </a:r>
            <a:endParaRPr lang="en-US" sz="3200" dirty="0"/>
          </a:p>
        </p:txBody>
      </p:sp>
      <p:sp>
        <p:nvSpPr>
          <p:cNvPr id="5" name="Text 1"/>
          <p:cNvSpPr/>
          <p:nvPr/>
        </p:nvSpPr>
        <p:spPr>
          <a:xfrm>
            <a:off x="914400" y="3063240"/>
            <a:ext cx="10360152" cy="457200"/>
          </a:xfrm>
          <a:prstGeom prst="rect">
            <a:avLst/>
          </a:prstGeom>
          <a:noFill/>
          <a:ln/>
        </p:spPr>
        <p:txBody>
          <a:bodyPr wrap="square"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CSA1710-Artificial Intelligence</a:t>
            </a:r>
            <a:endParaRPr lang="en-US" sz="2200" dirty="0"/>
          </a:p>
        </p:txBody>
      </p:sp>
      <p:sp>
        <p:nvSpPr>
          <p:cNvPr id="6" name="Text 2"/>
          <p:cNvSpPr/>
          <p:nvPr/>
        </p:nvSpPr>
        <p:spPr>
          <a:xfrm>
            <a:off x="822960" y="3611880"/>
            <a:ext cx="10543032" cy="502920"/>
          </a:xfrm>
          <a:prstGeom prst="rect">
            <a:avLst/>
          </a:prstGeom>
          <a:noFill/>
          <a:ln/>
        </p:spPr>
        <p:txBody>
          <a:bodyPr wrap="square" rtlCol="0" anchor="ctr"/>
          <a:lstStyle/>
          <a:p>
            <a:pPr marL="0" indent="0" algn="ctr">
              <a:buNone/>
            </a:pPr>
            <a:r>
              <a:rPr lang="en-US" sz="1700" i="1" dirty="0">
                <a:solidFill>
                  <a:srgbClr val="44546A"/>
                </a:solidFill>
                <a:latin typeface="Times New Roman" pitchFamily="34" charset="0"/>
                <a:ea typeface="Times New Roman" pitchFamily="34" charset="-122"/>
                <a:cs typeface="Times New Roman" pitchFamily="34" charset="-120"/>
              </a:rPr>
              <a:t>A Safe, Context-Aware Conversational Assistant for Reliable Healthcare Information</a:t>
            </a:r>
            <a:endParaRPr lang="en-US" sz="1700" dirty="0"/>
          </a:p>
        </p:txBody>
      </p:sp>
      <p:sp>
        <p:nvSpPr>
          <p:cNvPr id="7" name="Text 3"/>
          <p:cNvSpPr/>
          <p:nvPr/>
        </p:nvSpPr>
        <p:spPr>
          <a:xfrm>
            <a:off x="1371600" y="4297680"/>
            <a:ext cx="4206240" cy="1463040"/>
          </a:xfrm>
          <a:prstGeom prst="rect">
            <a:avLst/>
          </a:prstGeom>
          <a:noFill/>
          <a:ln/>
        </p:spPr>
        <p:txBody>
          <a:bodyPr wrap="square"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Presented By:</a:t>
            </a:r>
            <a:br>
              <a:rPr lang="en-US" sz="1600" b="1" dirty="0">
                <a:solidFill>
                  <a:srgbClr val="000000"/>
                </a:solidFill>
                <a:latin typeface="Times New Roman" pitchFamily="34" charset="0"/>
                <a:ea typeface="Times New Roman" pitchFamily="34" charset="-122"/>
                <a:cs typeface="Times New Roman" pitchFamily="34" charset="-120"/>
              </a:rPr>
            </a:br>
            <a:r>
              <a:rPr lang="en-US" sz="1600" b="1" dirty="0">
                <a:solidFill>
                  <a:srgbClr val="000000"/>
                </a:solidFill>
                <a:latin typeface="Times New Roman" pitchFamily="34" charset="0"/>
                <a:ea typeface="Times New Roman" pitchFamily="34" charset="-122"/>
                <a:cs typeface="Times New Roman" pitchFamily="34" charset="-120"/>
              </a:rPr>
              <a:t>G.Pallavi(192311208)</a:t>
            </a:r>
            <a:br>
              <a:rPr lang="en-US" sz="1600" b="1" dirty="0">
                <a:solidFill>
                  <a:srgbClr val="000000"/>
                </a:solidFill>
                <a:latin typeface="Times New Roman" pitchFamily="34" charset="0"/>
                <a:ea typeface="Times New Roman" pitchFamily="34" charset="-122"/>
                <a:cs typeface="Times New Roman" pitchFamily="34" charset="-120"/>
              </a:rPr>
            </a:br>
            <a:r>
              <a:rPr lang="en-US" sz="1600" b="1" dirty="0">
                <a:solidFill>
                  <a:srgbClr val="000000"/>
                </a:solidFill>
                <a:latin typeface="Times New Roman" pitchFamily="34" charset="0"/>
                <a:ea typeface="Times New Roman" pitchFamily="34" charset="-122"/>
                <a:cs typeface="Times New Roman" pitchFamily="34" charset="-120"/>
              </a:rPr>
              <a:t>P Harshitha(192312506)</a:t>
            </a:r>
            <a:br>
              <a:rPr lang="en-US" sz="1600" b="1" dirty="0">
                <a:solidFill>
                  <a:srgbClr val="000000"/>
                </a:solidFill>
                <a:latin typeface="Times New Roman" pitchFamily="34" charset="0"/>
                <a:ea typeface="Times New Roman" pitchFamily="34" charset="-122"/>
                <a:cs typeface="Times New Roman" pitchFamily="34" charset="-120"/>
              </a:rPr>
            </a:br>
            <a:r>
              <a:rPr lang="en-US" sz="1600" b="1" dirty="0">
                <a:solidFill>
                  <a:srgbClr val="000000"/>
                </a:solidFill>
                <a:latin typeface="Times New Roman" pitchFamily="34" charset="0"/>
                <a:ea typeface="Times New Roman" pitchFamily="34" charset="-122"/>
                <a:cs typeface="Times New Roman" pitchFamily="34" charset="-120"/>
              </a:rPr>
              <a:t>Shakthi(192312538)</a:t>
            </a:r>
            <a:endParaRPr lang="en-US" sz="1600" dirty="0"/>
          </a:p>
        </p:txBody>
      </p:sp>
      <p:sp>
        <p:nvSpPr>
          <p:cNvPr id="8" name="Text 4"/>
          <p:cNvSpPr/>
          <p:nvPr/>
        </p:nvSpPr>
        <p:spPr>
          <a:xfrm>
            <a:off x="7985760" y="4297680"/>
            <a:ext cx="4206240" cy="1463040"/>
          </a:xfrm>
          <a:prstGeom prst="rect">
            <a:avLst/>
          </a:prstGeom>
          <a:noFill/>
          <a:ln/>
        </p:spPr>
        <p:txBody>
          <a:bodyPr wrap="square"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Guided By:</a:t>
            </a:r>
            <a:br>
              <a:rPr lang="en-US" sz="1600" b="1" dirty="0">
                <a:solidFill>
                  <a:srgbClr val="000000"/>
                </a:solidFill>
                <a:latin typeface="Times New Roman" pitchFamily="34" charset="0"/>
                <a:ea typeface="Times New Roman" pitchFamily="34" charset="-122"/>
                <a:cs typeface="Times New Roman" pitchFamily="34" charset="-120"/>
              </a:rPr>
            </a:br>
            <a:r>
              <a:rPr lang="en-US" sz="1600" b="1" dirty="0">
                <a:solidFill>
                  <a:srgbClr val="000000"/>
                </a:solidFill>
                <a:latin typeface="Times New Roman" pitchFamily="34" charset="0"/>
                <a:ea typeface="Times New Roman" pitchFamily="34" charset="-122"/>
                <a:cs typeface="Times New Roman" pitchFamily="34" charset="-120"/>
              </a:rPr>
              <a:t>Dr. B  Nagarajan</a:t>
            </a:r>
            <a:endParaRPr lang="en-US" sz="1600" dirty="0"/>
          </a:p>
        </p:txBody>
      </p:sp>
      <p:sp>
        <p:nvSpPr>
          <p:cNvPr id="9" name="Text 5"/>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Introduction</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2</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Healthcare information is often difficult for patients to access and understand.</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Users commonly search online for symptoms, medicines, diseases, and general health information.</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Conventional chatbots may provide generic responses without sufficient healthcare knowledge.</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Generative AI can understand natural-language questions and provide conversational responses.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system integrates </a:t>
            </a:r>
            <a:r>
              <a:rPr lang="en-IN" sz="2000" b="1" dirty="0">
                <a:latin typeface="Times New Roman" panose="02020603050405020304" pitchFamily="18" charset="0"/>
                <a:cs typeface="Times New Roman" panose="02020603050405020304" pitchFamily="18" charset="0"/>
              </a:rPr>
              <a:t>AI with healthcare domain knowledge</a:t>
            </a:r>
            <a:r>
              <a:rPr lang="en-IN" sz="2000" dirty="0">
                <a:latin typeface="Times New Roman" panose="02020603050405020304" pitchFamily="18" charset="0"/>
                <a:cs typeface="Times New Roman" panose="02020603050405020304" pitchFamily="18" charset="0"/>
              </a:rPr>
              <a:t> to provide reliable and context-aware assistance.</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chatbot acts as an intelligent first-level information assistant.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Problem Statement</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3</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Patients may struggle to obtain quick and understandable healthcare information.</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General-purpose chatbots may provide irrelevant or inaccurate responses.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Medical terminology can be difficult for non-technical users to understand.</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Traditional healthcare information systems generally depend on keyword-based searches.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There is a need for a conversational system that can:</a:t>
            </a:r>
          </a:p>
          <a:p>
            <a:pPr marL="800100" lvl="1"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Understand natural-language healthcare queries.</a:t>
            </a:r>
          </a:p>
          <a:p>
            <a:pPr marL="800100" lvl="1"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Retrieve relevant domain knowledge.</a:t>
            </a:r>
          </a:p>
          <a:p>
            <a:pPr marL="800100" lvl="1"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meaningful responses.</a:t>
            </a:r>
          </a:p>
          <a:p>
            <a:pPr marL="800100" lvl="1"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 conversational context.</a:t>
            </a:r>
          </a:p>
          <a:p>
            <a:pPr marL="800100" lvl="1"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 safe and responsible healthcare information.</a:t>
            </a:r>
          </a:p>
          <a:p>
            <a:pPr marL="285750" indent="-285750" algn="just">
              <a:lnSpc>
                <a:spcPct val="150000"/>
              </a:lnSpc>
              <a:buFont typeface="Arial" panose="020B0604020202020204" pitchFamily="34" charset="0"/>
              <a:buChar char="•"/>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Objectives</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4</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an intelligent conversational healthcare chatbot.</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 healthcare-specific knowledge into the chatbot.</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Understand and process natural-language user queries.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Retrieve relevant healthcare information from the knowledge base.</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context-aware and easy-to-understand responses.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 conversation history for better interaction.</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 safety-aware responses and recommend professional consultation when required.</a:t>
            </a:r>
          </a:p>
          <a:p>
            <a:pPr marL="342900" indent="-342900" algn="just">
              <a:lnSpc>
                <a:spcPct val="150000"/>
              </a:lnSpc>
              <a:spcAft>
                <a:spcPts val="1200"/>
              </a:spcAft>
              <a:buSzPct val="100000"/>
              <a:buChar char="●"/>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Literature Survey</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2631420428"/>
              </p:ext>
            </p:extLst>
          </p:nvPr>
        </p:nvGraphicFramePr>
        <p:xfrm>
          <a:off x="457200" y="1371600"/>
          <a:ext cx="11274552" cy="5193792"/>
        </p:xfrm>
        <a:graphic>
          <a:graphicData uri="http://schemas.openxmlformats.org/drawingml/2006/table">
            <a:tbl>
              <a:tblPr/>
              <a:tblGrid>
                <a:gridCol w="15544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865632">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Author / Year</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Title / Source</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Key Contribution</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Relevance to Project</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Limitations / Gap</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865632">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Smith et al., 2021</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A Survey of Medical Chatbot Systems</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Reviewed rule-based vs ML-based healthcare bots</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Baseline architecture comparison</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Limited handling of multi-turn context</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5632">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Kumar et al., 2022</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BERT-Based Intent Classification for Healthcare Queries</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Fine-tuned BERT for symptom intent detection</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Informs the query understanding module</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Needs large labeled medical datasets</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865632">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Chen et al., 2022</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Knowledge-Grounded Response Generation in Medical Dialogue</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Combined KB retrieval with generation models</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Basis for knowledge-integrated response design</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Risk of factual drift without validation</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5632">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Patel &amp; Rao, 2023</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Evaluating LLM Hallucination in Clinical QA</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Identified hallucination risks in generative healthcare answers</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Motivates confidence &amp; safety validation module</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No standardized safety-scoring method proposed</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r h="865632">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Gupta et al., 2023</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Context-Aware Conversational Agents for Patient Support</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Proposed a context-tracking dialogue manager</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Informs context-aware response generation</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Struggles with domain-specific vocabulary</a:t>
                      </a:r>
                      <a:endParaRPr lang="en-US" sz="1400" dirty="0">
                        <a:latin typeface="Times New Roman" charset="0"/>
                        <a:ea typeface="Times New Roman" charset="0"/>
                        <a:cs typeface="Times New Roman"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Modules</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9</a:t>
            </a:r>
            <a:endParaRPr lang="en-US" sz="1000" dirty="0"/>
          </a:p>
        </p:txBody>
      </p:sp>
      <p:sp>
        <p:nvSpPr>
          <p:cNvPr id="7" name="Shape 3"/>
          <p:cNvSpPr/>
          <p:nvPr/>
        </p:nvSpPr>
        <p:spPr>
          <a:xfrm>
            <a:off x="1280160" y="1737360"/>
            <a:ext cx="9628632" cy="1051560"/>
          </a:xfrm>
          <a:prstGeom prst="roundRect">
            <a:avLst>
              <a:gd name="adj" fmla="val 6957"/>
            </a:avLst>
          </a:prstGeom>
          <a:solidFill>
            <a:srgbClr val="4472C4"/>
          </a:solidFill>
          <a:ln/>
        </p:spPr>
      </p:sp>
      <p:sp>
        <p:nvSpPr>
          <p:cNvPr id="8" name="Text 4"/>
          <p:cNvSpPr/>
          <p:nvPr/>
        </p:nvSpPr>
        <p:spPr>
          <a:xfrm>
            <a:off x="1554480" y="1737360"/>
            <a:ext cx="9079992" cy="105156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Module 1: Healthcare Knowledge Integration</a:t>
            </a:r>
            <a:endParaRPr lang="en-US" sz="1900" dirty="0"/>
          </a:p>
        </p:txBody>
      </p:sp>
      <p:sp>
        <p:nvSpPr>
          <p:cNvPr id="9" name="Shape 5"/>
          <p:cNvSpPr/>
          <p:nvPr/>
        </p:nvSpPr>
        <p:spPr>
          <a:xfrm>
            <a:off x="1280160" y="3108960"/>
            <a:ext cx="9628632" cy="1051560"/>
          </a:xfrm>
          <a:prstGeom prst="roundRect">
            <a:avLst>
              <a:gd name="adj" fmla="val 6957"/>
            </a:avLst>
          </a:prstGeom>
          <a:solidFill>
            <a:srgbClr val="ED7D31"/>
          </a:solidFill>
          <a:ln/>
        </p:spPr>
      </p:sp>
      <p:sp>
        <p:nvSpPr>
          <p:cNvPr id="10" name="Text 6"/>
          <p:cNvSpPr/>
          <p:nvPr/>
        </p:nvSpPr>
        <p:spPr>
          <a:xfrm>
            <a:off x="1554480" y="3108960"/>
            <a:ext cx="9079992" cy="105156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Module 2: Conversational AI &amp; Query Processing</a:t>
            </a:r>
            <a:endParaRPr lang="en-US" sz="1900" dirty="0"/>
          </a:p>
        </p:txBody>
      </p:sp>
      <p:sp>
        <p:nvSpPr>
          <p:cNvPr id="11" name="Shape 7"/>
          <p:cNvSpPr/>
          <p:nvPr/>
        </p:nvSpPr>
        <p:spPr>
          <a:xfrm>
            <a:off x="1280160" y="4480560"/>
            <a:ext cx="9628632" cy="1051560"/>
          </a:xfrm>
          <a:prstGeom prst="roundRect">
            <a:avLst>
              <a:gd name="adj" fmla="val 6957"/>
            </a:avLst>
          </a:prstGeom>
          <a:solidFill>
            <a:srgbClr val="70AD47"/>
          </a:solidFill>
          <a:ln/>
        </p:spPr>
      </p:sp>
      <p:sp>
        <p:nvSpPr>
          <p:cNvPr id="12" name="Text 8"/>
          <p:cNvSpPr/>
          <p:nvPr/>
        </p:nvSpPr>
        <p:spPr>
          <a:xfrm>
            <a:off x="1554480" y="4480560"/>
            <a:ext cx="9079992" cy="1051560"/>
          </a:xfrm>
          <a:prstGeom prst="rect">
            <a:avLst/>
          </a:prstGeom>
          <a:noFill/>
          <a:ln/>
        </p:spPr>
        <p:txBody>
          <a:bodyPr wrap="square" rtlCol="0" anchor="ct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Module 3: Intelligent Response &amp; Healthcare Assistance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Text 0"/>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10</a:t>
            </a:r>
            <a:endParaRPr lang="en-US" sz="1000" dirty="0"/>
          </a:p>
        </p:txBody>
      </p:sp>
      <p:sp>
        <p:nvSpPr>
          <p:cNvPr id="5" name="Shape 1"/>
          <p:cNvSpPr/>
          <p:nvPr/>
        </p:nvSpPr>
        <p:spPr>
          <a:xfrm>
            <a:off x="2194560" y="2377440"/>
            <a:ext cx="7772400" cy="2103120"/>
          </a:xfrm>
          <a:prstGeom prst="roundRect">
            <a:avLst>
              <a:gd name="adj" fmla="val 5217"/>
            </a:avLst>
          </a:prstGeom>
          <a:solidFill>
            <a:srgbClr val="4472C4"/>
          </a:solidFill>
          <a:ln/>
          <a:effectLst>
            <a:outerShdw blurRad="101600" dist="38100" dir="5400000" algn="bl" rotWithShape="0">
              <a:srgbClr val="000000">
                <a:alpha val="35000"/>
              </a:srgbClr>
            </a:outerShdw>
          </a:effectLst>
        </p:spPr>
      </p:sp>
      <p:pic>
        <p:nvPicPr>
          <p:cNvPr id="6" name="Image 2" descr="/home/claude/work/icons/book.png"/>
          <p:cNvPicPr>
            <a:picLocks noChangeAspect="1"/>
          </p:cNvPicPr>
          <p:nvPr/>
        </p:nvPicPr>
        <p:blipFill>
          <a:blip r:embed="rId5"/>
          <a:stretch>
            <a:fillRect/>
          </a:stretch>
        </p:blipFill>
        <p:spPr>
          <a:xfrm>
            <a:off x="5684520" y="2606040"/>
            <a:ext cx="822960" cy="822960"/>
          </a:xfrm>
          <a:prstGeom prst="rect">
            <a:avLst/>
          </a:prstGeom>
        </p:spPr>
      </p:pic>
      <p:sp>
        <p:nvSpPr>
          <p:cNvPr id="7" name="Text 2"/>
          <p:cNvSpPr/>
          <p:nvPr/>
        </p:nvSpPr>
        <p:spPr>
          <a:xfrm>
            <a:off x="2468880" y="3429000"/>
            <a:ext cx="7223760" cy="45720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MODULE 1</a:t>
            </a:r>
            <a:endParaRPr lang="en-US" sz="2000" dirty="0"/>
          </a:p>
        </p:txBody>
      </p:sp>
      <p:sp>
        <p:nvSpPr>
          <p:cNvPr id="8" name="Text 3"/>
          <p:cNvSpPr/>
          <p:nvPr/>
        </p:nvSpPr>
        <p:spPr>
          <a:xfrm>
            <a:off x="2468880" y="3886200"/>
            <a:ext cx="72237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Healthcare Knowledge Integration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Module 1: Objective &amp; Knowledge Collection</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11</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algn="just"/>
            <a:r>
              <a:rPr lang="en-IN" sz="2000" b="1" dirty="0">
                <a:latin typeface="Times New Roman" panose="02020603050405020304" pitchFamily="18" charset="0"/>
                <a:cs typeface="Times New Roman" panose="02020603050405020304" pitchFamily="18" charset="0"/>
              </a:rPr>
              <a:t>Objective</a:t>
            </a:r>
          </a:p>
          <a:p>
            <a:pPr algn="just"/>
            <a:r>
              <a:rPr lang="en-IN" sz="2000" dirty="0">
                <a:latin typeface="Times New Roman" panose="02020603050405020304" pitchFamily="18" charset="0"/>
                <a:cs typeface="Times New Roman" panose="02020603050405020304" pitchFamily="18" charset="0"/>
              </a:rPr>
              <a:t>To provide the chatbot with reliable healthcare domain knowledge for answering user queries.</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Functions</a:t>
            </a:r>
          </a:p>
          <a:p>
            <a:pPr lvl="0" algn="just"/>
            <a:r>
              <a:rPr lang="en-IN" sz="2000" dirty="0">
                <a:latin typeface="Times New Roman" panose="02020603050405020304" pitchFamily="18" charset="0"/>
                <a:cs typeface="Times New Roman" panose="02020603050405020304" pitchFamily="18" charset="0"/>
              </a:rPr>
              <a:t>Collect healthcare-related information.</a:t>
            </a:r>
          </a:p>
          <a:p>
            <a:pPr lvl="0" algn="just"/>
            <a:r>
              <a:rPr lang="en-IN" sz="2000" dirty="0">
                <a:latin typeface="Times New Roman" panose="02020603050405020304" pitchFamily="18" charset="0"/>
                <a:cs typeface="Times New Roman" panose="02020603050405020304" pitchFamily="18" charset="0"/>
              </a:rPr>
              <a:t>Clean and preprocess the information.</a:t>
            </a:r>
          </a:p>
          <a:p>
            <a:pPr lvl="0" algn="just"/>
            <a:r>
              <a:rPr lang="en-IN" sz="2000" dirty="0">
                <a:latin typeface="Times New Roman" panose="02020603050405020304" pitchFamily="18" charset="0"/>
                <a:cs typeface="Times New Roman" panose="02020603050405020304" pitchFamily="18" charset="0"/>
              </a:rPr>
              <a:t>Organize information into a structured knowledge base.</a:t>
            </a:r>
          </a:p>
          <a:p>
            <a:pPr lvl="0" algn="just"/>
            <a:r>
              <a:rPr lang="en-IN" sz="2000" dirty="0">
                <a:latin typeface="Times New Roman" panose="02020603050405020304" pitchFamily="18" charset="0"/>
                <a:cs typeface="Times New Roman" panose="02020603050405020304" pitchFamily="18" charset="0"/>
              </a:rPr>
              <a:t>Retrieve relevant information based on user queries.</a:t>
            </a:r>
          </a:p>
          <a:p>
            <a:pPr lvl="0" algn="just"/>
            <a:r>
              <a:rPr lang="en-IN" sz="2000" dirty="0">
                <a:latin typeface="Times New Roman" panose="02020603050405020304" pitchFamily="18" charset="0"/>
                <a:cs typeface="Times New Roman" panose="02020603050405020304" pitchFamily="18" charset="0"/>
              </a:rPr>
              <a:t>Provide domain-specific context to the AI model.</a:t>
            </a:r>
          </a:p>
          <a:p>
            <a:pPr lvl="0"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Technologies</a:t>
            </a:r>
          </a:p>
          <a:p>
            <a:pPr lvl="0" algn="just"/>
            <a:r>
              <a:rPr lang="en-IN" sz="2000" dirty="0">
                <a:latin typeface="Times New Roman" panose="02020603050405020304" pitchFamily="18" charset="0"/>
                <a:cs typeface="Times New Roman" panose="02020603050405020304" pitchFamily="18" charset="0"/>
              </a:rPr>
              <a:t>Python</a:t>
            </a:r>
          </a:p>
          <a:p>
            <a:pPr lvl="0" algn="just"/>
            <a:r>
              <a:rPr lang="en-IN" sz="2000" dirty="0">
                <a:latin typeface="Times New Roman" panose="02020603050405020304" pitchFamily="18" charset="0"/>
                <a:cs typeface="Times New Roman" panose="02020603050405020304" pitchFamily="18" charset="0"/>
              </a:rPr>
              <a:t>NLP</a:t>
            </a:r>
          </a:p>
          <a:p>
            <a:pPr lvl="0" algn="just"/>
            <a:r>
              <a:rPr lang="en-IN" sz="2000" dirty="0">
                <a:latin typeface="Times New Roman" panose="02020603050405020304" pitchFamily="18" charset="0"/>
                <a:cs typeface="Times New Roman" panose="02020603050405020304" pitchFamily="18" charset="0"/>
              </a:rPr>
              <a:t>Database / Knowledge Base</a:t>
            </a:r>
          </a:p>
          <a:p>
            <a:pPr lvl="0" algn="just"/>
            <a:r>
              <a:rPr lang="en-IN" sz="2000" dirty="0">
                <a:latin typeface="Times New Roman" panose="02020603050405020304" pitchFamily="18" charset="0"/>
                <a:cs typeface="Times New Roman" panose="02020603050405020304" pitchFamily="18" charset="0"/>
              </a:rPr>
              <a:t>Embedding-based retrieval</a:t>
            </a:r>
          </a:p>
          <a:p>
            <a:pPr marL="342900" indent="-342900" algn="just">
              <a:lnSpc>
                <a:spcPct val="105000"/>
              </a:lnSpc>
              <a:spcAft>
                <a:spcPts val="1200"/>
              </a:spcAft>
              <a:buSzPct val="100000"/>
              <a:buChar char="●"/>
            </a:pPr>
            <a:endParaRPr lang="en-US"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Module 1: Preprocessing, Retrieval &amp; Output</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12</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a:lnSpc>
                <a:spcPct val="150000"/>
              </a:lnSpc>
              <a:spcAft>
                <a:spcPts val="1200"/>
              </a:spcAft>
              <a:buSzPct val="100000"/>
            </a:pPr>
            <a:r>
              <a:rPr lang="en-IN" sz="2000" dirty="0">
                <a:latin typeface="Times New Roman" panose="02020603050405020304" pitchFamily="18" charset="0"/>
                <a:cs typeface="Times New Roman" panose="02020603050405020304" pitchFamily="18" charset="0"/>
              </a:rPr>
              <a:t>→ Collect healthcare domain documents/data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Clean and preprocess the data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Split information into meaningful sections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Convert knowledge into searchable representations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Store knowledge in the database/vector store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Receive user query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Search for relevant healthcare information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Return the most relevant knowledge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Send retrieved information to Module 2</a:t>
            </a:r>
            <a:endParaRPr lang="en-US"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Text 0"/>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13</a:t>
            </a:r>
            <a:endParaRPr lang="en-US" sz="1000" dirty="0"/>
          </a:p>
        </p:txBody>
      </p:sp>
      <p:sp>
        <p:nvSpPr>
          <p:cNvPr id="5" name="Shape 1"/>
          <p:cNvSpPr/>
          <p:nvPr/>
        </p:nvSpPr>
        <p:spPr>
          <a:xfrm>
            <a:off x="2194560" y="2377440"/>
            <a:ext cx="7772400" cy="2103120"/>
          </a:xfrm>
          <a:prstGeom prst="roundRect">
            <a:avLst>
              <a:gd name="adj" fmla="val 5217"/>
            </a:avLst>
          </a:prstGeom>
          <a:solidFill>
            <a:srgbClr val="ED7D31"/>
          </a:solidFill>
          <a:ln/>
          <a:effectLst>
            <a:outerShdw blurRad="101600" dist="38100" dir="5400000" algn="bl" rotWithShape="0">
              <a:srgbClr val="000000">
                <a:alpha val="35000"/>
              </a:srgbClr>
            </a:outerShdw>
          </a:effectLst>
        </p:spPr>
      </p:sp>
      <p:pic>
        <p:nvPicPr>
          <p:cNvPr id="6" name="Image 2" descr="/home/claude/work/icons/chat.png"/>
          <p:cNvPicPr>
            <a:picLocks noChangeAspect="1"/>
          </p:cNvPicPr>
          <p:nvPr/>
        </p:nvPicPr>
        <p:blipFill>
          <a:blip r:embed="rId5"/>
          <a:stretch>
            <a:fillRect/>
          </a:stretch>
        </p:blipFill>
        <p:spPr>
          <a:xfrm>
            <a:off x="5364785" y="2606040"/>
            <a:ext cx="822960" cy="822960"/>
          </a:xfrm>
          <a:prstGeom prst="rect">
            <a:avLst/>
          </a:prstGeom>
        </p:spPr>
      </p:pic>
      <p:sp>
        <p:nvSpPr>
          <p:cNvPr id="7" name="Text 2"/>
          <p:cNvSpPr/>
          <p:nvPr/>
        </p:nvSpPr>
        <p:spPr>
          <a:xfrm>
            <a:off x="2468880" y="3429000"/>
            <a:ext cx="7223760" cy="45720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MODULE 2</a:t>
            </a:r>
            <a:endParaRPr lang="en-US" sz="2000" dirty="0"/>
          </a:p>
        </p:txBody>
      </p:sp>
      <p:sp>
        <p:nvSpPr>
          <p:cNvPr id="8" name="Text 3"/>
          <p:cNvSpPr/>
          <p:nvPr/>
        </p:nvSpPr>
        <p:spPr>
          <a:xfrm>
            <a:off x="2468880" y="3886200"/>
            <a:ext cx="72237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Conversational AI &amp; Query Processing</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Module 2: Understanding the User Query</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14</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algn="just"/>
            <a:r>
              <a:rPr lang="en-IN" b="1" dirty="0">
                <a:latin typeface="Times New Roman" panose="02020603050405020304" pitchFamily="18" charset="0"/>
                <a:cs typeface="Times New Roman" panose="02020603050405020304" pitchFamily="18" charset="0"/>
              </a:rPr>
              <a:t>Objective</a:t>
            </a:r>
          </a:p>
          <a:p>
            <a:pPr algn="just"/>
            <a:r>
              <a:rPr lang="en-IN" dirty="0">
                <a:latin typeface="Times New Roman" panose="02020603050405020304" pitchFamily="18" charset="0"/>
                <a:cs typeface="Times New Roman" panose="02020603050405020304" pitchFamily="18" charset="0"/>
              </a:rPr>
              <a:t>To understand the user's healthcare query and determine the appropriate information required to generate a response.</a:t>
            </a:r>
          </a:p>
          <a:p>
            <a:pPr algn="just"/>
            <a:r>
              <a:rPr lang="en-IN" b="1" dirty="0">
                <a:latin typeface="Times New Roman" panose="02020603050405020304" pitchFamily="18" charset="0"/>
                <a:cs typeface="Times New Roman" panose="02020603050405020304" pitchFamily="18" charset="0"/>
              </a:rPr>
              <a:t>Functions</a:t>
            </a:r>
          </a:p>
          <a:p>
            <a:pPr lvl="0" algn="just"/>
            <a:r>
              <a:rPr lang="en-IN" dirty="0">
                <a:latin typeface="Times New Roman" panose="02020603050405020304" pitchFamily="18" charset="0"/>
                <a:cs typeface="Times New Roman" panose="02020603050405020304" pitchFamily="18" charset="0"/>
              </a:rPr>
              <a:t>Accept natural-language questions.</a:t>
            </a:r>
          </a:p>
          <a:p>
            <a:pPr lvl="0" algn="just"/>
            <a:r>
              <a:rPr lang="en-IN" dirty="0">
                <a:latin typeface="Times New Roman" panose="02020603050405020304" pitchFamily="18" charset="0"/>
                <a:cs typeface="Times New Roman" panose="02020603050405020304" pitchFamily="18" charset="0"/>
              </a:rPr>
              <a:t>Identify user intent.</a:t>
            </a:r>
          </a:p>
          <a:p>
            <a:pPr lvl="0" algn="just"/>
            <a:r>
              <a:rPr lang="en-IN" dirty="0">
                <a:latin typeface="Times New Roman" panose="02020603050405020304" pitchFamily="18" charset="0"/>
                <a:cs typeface="Times New Roman" panose="02020603050405020304" pitchFamily="18" charset="0"/>
              </a:rPr>
              <a:t>Extract important medical entities or keywords.</a:t>
            </a:r>
          </a:p>
          <a:p>
            <a:pPr lvl="0" algn="just"/>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conversational context.</a:t>
            </a:r>
          </a:p>
          <a:p>
            <a:pPr lvl="0" algn="just"/>
            <a:r>
              <a:rPr lang="en-IN" dirty="0">
                <a:latin typeface="Times New Roman" panose="02020603050405020304" pitchFamily="18" charset="0"/>
                <a:cs typeface="Times New Roman" panose="02020603050405020304" pitchFamily="18" charset="0"/>
              </a:rPr>
              <a:t>Retrieve relevant knowledge.</a:t>
            </a:r>
          </a:p>
          <a:p>
            <a:pPr lvl="0" algn="just"/>
            <a:r>
              <a:rPr lang="en-IN" dirty="0">
                <a:latin typeface="Times New Roman" panose="02020603050405020304" pitchFamily="18" charset="0"/>
                <a:cs typeface="Times New Roman" panose="02020603050405020304" pitchFamily="18" charset="0"/>
              </a:rPr>
              <a:t>Pass processed information to the response-generation module.</a:t>
            </a:r>
          </a:p>
          <a:p>
            <a:pPr algn="just"/>
            <a:r>
              <a:rPr lang="en-IN" b="1" dirty="0">
                <a:latin typeface="Times New Roman" panose="02020603050405020304" pitchFamily="18" charset="0"/>
                <a:cs typeface="Times New Roman" panose="02020603050405020304" pitchFamily="18" charset="0"/>
              </a:rPr>
              <a:t>Technologies</a:t>
            </a:r>
          </a:p>
          <a:p>
            <a:pPr lvl="0" algn="just"/>
            <a:r>
              <a:rPr lang="en-IN" dirty="0">
                <a:latin typeface="Times New Roman" panose="02020603050405020304" pitchFamily="18" charset="0"/>
                <a:cs typeface="Times New Roman" panose="02020603050405020304" pitchFamily="18" charset="0"/>
              </a:rPr>
              <a:t>NLP</a:t>
            </a:r>
          </a:p>
          <a:p>
            <a:pPr lvl="0" algn="just"/>
            <a:r>
              <a:rPr lang="en-IN" dirty="0">
                <a:latin typeface="Times New Roman" panose="02020603050405020304" pitchFamily="18" charset="0"/>
                <a:cs typeface="Times New Roman" panose="02020603050405020304" pitchFamily="18" charset="0"/>
              </a:rPr>
              <a:t>LLM / Generative AI</a:t>
            </a:r>
          </a:p>
          <a:p>
            <a:pPr lvl="0" algn="just"/>
            <a:r>
              <a:rPr lang="en-IN" dirty="0">
                <a:latin typeface="Times New Roman" panose="02020603050405020304" pitchFamily="18" charset="0"/>
                <a:cs typeface="Times New Roman" panose="02020603050405020304" pitchFamily="18" charset="0"/>
              </a:rPr>
              <a:t>Python</a:t>
            </a:r>
          </a:p>
          <a:p>
            <a:pPr lvl="0" algn="just"/>
            <a:r>
              <a:rPr lang="en-IN" dirty="0">
                <a:latin typeface="Times New Roman" panose="02020603050405020304" pitchFamily="18" charset="0"/>
                <a:cs typeface="Times New Roman" panose="02020603050405020304" pitchFamily="18" charset="0"/>
              </a:rPr>
              <a:t>Text processing techniques</a:t>
            </a:r>
          </a:p>
          <a:p>
            <a:pPr algn="just">
              <a:lnSpc>
                <a:spcPct val="105000"/>
              </a:lnSpc>
              <a:spcAft>
                <a:spcPts val="1200"/>
              </a:spcAft>
              <a:buSzPct val="100000"/>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Module 2: Response Generation &amp; Validation</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15</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a:lnSpc>
                <a:spcPct val="150000"/>
              </a:lnSpc>
              <a:spcAft>
                <a:spcPts val="1200"/>
              </a:spcAft>
              <a:buSzPct val="100000"/>
            </a:pPr>
            <a:r>
              <a:rPr lang="en-IN" sz="2000" dirty="0">
                <a:latin typeface="Times New Roman" panose="02020603050405020304" pitchFamily="18" charset="0"/>
                <a:cs typeface="Times New Roman" panose="02020603050405020304" pitchFamily="18" charset="0"/>
              </a:rPr>
              <a:t>→ Receive user message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Preprocess the query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Identify intent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Extract important entities / keywords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previous conversation context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Generate search query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Retrieve relevant healthcare knowledge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Combine query + context + retrieved knowledge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Send information to Module 3</a:t>
            </a:r>
            <a:endParaRPr lang="en-US"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Text 0"/>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16</a:t>
            </a:r>
            <a:endParaRPr lang="en-US" sz="1000" dirty="0"/>
          </a:p>
        </p:txBody>
      </p:sp>
      <p:sp>
        <p:nvSpPr>
          <p:cNvPr id="5" name="Shape 1"/>
          <p:cNvSpPr/>
          <p:nvPr/>
        </p:nvSpPr>
        <p:spPr>
          <a:xfrm>
            <a:off x="2194560" y="2377440"/>
            <a:ext cx="7772400" cy="2103120"/>
          </a:xfrm>
          <a:prstGeom prst="roundRect">
            <a:avLst>
              <a:gd name="adj" fmla="val 5217"/>
            </a:avLst>
          </a:prstGeom>
          <a:solidFill>
            <a:srgbClr val="70AD47"/>
          </a:solidFill>
          <a:ln/>
          <a:effectLst>
            <a:outerShdw blurRad="101600" dist="38100" dir="5400000" algn="bl" rotWithShape="0">
              <a:srgbClr val="000000">
                <a:alpha val="35000"/>
              </a:srgbClr>
            </a:outerShdw>
          </a:effectLst>
        </p:spPr>
      </p:sp>
      <p:pic>
        <p:nvPicPr>
          <p:cNvPr id="6" name="Image 2" descr="/home/claude/work/icons/heartbeat.png"/>
          <p:cNvPicPr>
            <a:picLocks noChangeAspect="1"/>
          </p:cNvPicPr>
          <p:nvPr/>
        </p:nvPicPr>
        <p:blipFill>
          <a:blip r:embed="rId5"/>
          <a:stretch>
            <a:fillRect/>
          </a:stretch>
        </p:blipFill>
        <p:spPr>
          <a:xfrm>
            <a:off x="5364785" y="2606040"/>
            <a:ext cx="822960" cy="822960"/>
          </a:xfrm>
          <a:prstGeom prst="rect">
            <a:avLst/>
          </a:prstGeom>
        </p:spPr>
      </p:pic>
      <p:sp>
        <p:nvSpPr>
          <p:cNvPr id="7" name="Text 2"/>
          <p:cNvSpPr/>
          <p:nvPr/>
        </p:nvSpPr>
        <p:spPr>
          <a:xfrm>
            <a:off x="2468880" y="3429000"/>
            <a:ext cx="7223760" cy="45720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MODULE 3</a:t>
            </a:r>
            <a:endParaRPr lang="en-US" sz="2000" dirty="0"/>
          </a:p>
        </p:txBody>
      </p:sp>
      <p:sp>
        <p:nvSpPr>
          <p:cNvPr id="8" name="Text 3"/>
          <p:cNvSpPr/>
          <p:nvPr/>
        </p:nvSpPr>
        <p:spPr>
          <a:xfrm>
            <a:off x="2468880" y="3886200"/>
            <a:ext cx="72237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Intelligent Response &amp; Healthcare Assistance</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Module 3: Generating Healthcare Responses</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17</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algn="just">
              <a:lnSpc>
                <a:spcPct val="150000"/>
              </a:lnSpc>
            </a:pPr>
            <a:r>
              <a:rPr lang="en-IN" sz="2000" b="1" dirty="0">
                <a:latin typeface="Times New Roman" panose="02020603050405020304" pitchFamily="18" charset="0"/>
                <a:cs typeface="Times New Roman" panose="02020603050405020304" pitchFamily="18" charset="0"/>
              </a:rPr>
              <a:t>Objective</a:t>
            </a:r>
          </a:p>
          <a:p>
            <a:pPr algn="just">
              <a:lnSpc>
                <a:spcPct val="150000"/>
              </a:lnSpc>
            </a:pPr>
            <a:r>
              <a:rPr lang="en-IN" sz="2000" dirty="0">
                <a:latin typeface="Times New Roman" panose="02020603050405020304" pitchFamily="18" charset="0"/>
                <a:cs typeface="Times New Roman" panose="02020603050405020304" pitchFamily="18" charset="0"/>
              </a:rPr>
              <a:t>To generate clear, relevant, context-aware, and safety-conscious responses using the processed query and retrieved healthcare knowledge.</a:t>
            </a:r>
          </a:p>
          <a:p>
            <a:pPr algn="just">
              <a:lnSpc>
                <a:spcPct val="150000"/>
              </a:lnSpc>
            </a:pPr>
            <a:r>
              <a:rPr lang="en-IN" sz="2000" b="1" dirty="0">
                <a:latin typeface="Times New Roman" panose="02020603050405020304" pitchFamily="18" charset="0"/>
                <a:cs typeface="Times New Roman" panose="02020603050405020304" pitchFamily="18" charset="0"/>
              </a:rPr>
              <a:t>Functions</a:t>
            </a:r>
          </a:p>
          <a:p>
            <a:pPr lvl="0" algn="just">
              <a:lnSpc>
                <a:spcPct val="150000"/>
              </a:lnSpc>
            </a:pPr>
            <a:r>
              <a:rPr lang="en-IN" sz="2000" dirty="0">
                <a:latin typeface="Times New Roman" panose="02020603050405020304" pitchFamily="18" charset="0"/>
                <a:cs typeface="Times New Roman" panose="02020603050405020304" pitchFamily="18" charset="0"/>
              </a:rPr>
              <a:t>Combine user query with retrieved knowledge.</a:t>
            </a:r>
          </a:p>
          <a:p>
            <a:pPr lvl="0" algn="just">
              <a:lnSpc>
                <a:spcPct val="150000"/>
              </a:lnSpc>
            </a:pPr>
            <a:r>
              <a:rPr lang="en-IN" sz="2000" dirty="0">
                <a:latin typeface="Times New Roman" panose="02020603050405020304" pitchFamily="18" charset="0"/>
                <a:cs typeface="Times New Roman" panose="02020603050405020304" pitchFamily="18" charset="0"/>
              </a:rPr>
              <a:t>Generate natural-language responses.</a:t>
            </a:r>
          </a:p>
          <a:p>
            <a:pPr lvl="0" algn="just">
              <a:lnSpc>
                <a:spcPct val="150000"/>
              </a:lnSpc>
            </a:pPr>
            <a:r>
              <a:rPr lang="en-IN" sz="2000" dirty="0">
                <a:latin typeface="Times New Roman" panose="02020603050405020304" pitchFamily="18" charset="0"/>
                <a:cs typeface="Times New Roman" panose="02020603050405020304" pitchFamily="18" charset="0"/>
              </a:rPr>
              <a:t>Maintain conversational context.</a:t>
            </a:r>
          </a:p>
          <a:p>
            <a:pPr lvl="0" algn="just">
              <a:lnSpc>
                <a:spcPct val="150000"/>
              </a:lnSpc>
            </a:pPr>
            <a:r>
              <a:rPr lang="en-IN" sz="2000" dirty="0">
                <a:latin typeface="Times New Roman" panose="02020603050405020304" pitchFamily="18" charset="0"/>
                <a:cs typeface="Times New Roman" panose="02020603050405020304" pitchFamily="18" charset="0"/>
              </a:rPr>
              <a:t>Simplify complex medical terminology.</a:t>
            </a:r>
          </a:p>
          <a:p>
            <a:pPr lvl="0" algn="just">
              <a:lnSpc>
                <a:spcPct val="150000"/>
              </a:lnSpc>
            </a:pPr>
            <a:r>
              <a:rPr lang="en-IN" sz="2000" dirty="0">
                <a:latin typeface="Times New Roman" panose="02020603050405020304" pitchFamily="18" charset="0"/>
                <a:cs typeface="Times New Roman" panose="02020603050405020304" pitchFamily="18" charset="0"/>
              </a:rPr>
              <a:t>Detect potentially high-risk queries.</a:t>
            </a:r>
          </a:p>
          <a:p>
            <a:pPr lvl="0" algn="just">
              <a:lnSpc>
                <a:spcPct val="150000"/>
              </a:lnSpc>
            </a:pPr>
            <a:r>
              <a:rPr lang="en-IN" sz="2000" dirty="0">
                <a:latin typeface="Times New Roman" panose="02020603050405020304" pitchFamily="18" charset="0"/>
                <a:cs typeface="Times New Roman" panose="02020603050405020304" pitchFamily="18" charset="0"/>
              </a:rPr>
              <a:t>Recommend professional medical consultation when appropriate.</a:t>
            </a:r>
          </a:p>
          <a:p>
            <a:pPr algn="just">
              <a:lnSpc>
                <a:spcPct val="150000"/>
              </a:lnSpc>
              <a:spcAft>
                <a:spcPts val="1200"/>
              </a:spcAft>
              <a:buSzPct val="100000"/>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Module 3: Safety, History &amp; Output</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18</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a:lnSpc>
                <a:spcPct val="150000"/>
              </a:lnSpc>
              <a:spcAft>
                <a:spcPts val="1200"/>
              </a:spcAft>
              <a:buSzPct val="100000"/>
            </a:pPr>
            <a:r>
              <a:rPr lang="en-IN" sz="2000" dirty="0">
                <a:latin typeface="Times New Roman" panose="02020603050405020304" pitchFamily="18" charset="0"/>
                <a:cs typeface="Times New Roman" panose="02020603050405020304" pitchFamily="18" charset="0"/>
              </a:rPr>
              <a:t>→ Receive processed query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Receive retrieved healthcare knowledge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Add conversation context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Generate response using AI model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Check response relevance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Apply healthcare safety rules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If high-risk situation detected → Recommend professional medical help</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Otherwise → Return response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Store conversation context</a:t>
            </a:r>
            <a:endParaRPr lang="en-US"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System Architecture / Workflow</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8</a:t>
            </a:r>
            <a:endParaRPr lang="en-US" sz="1000" dirty="0"/>
          </a:p>
        </p:txBody>
      </p:sp>
      <p:pic>
        <p:nvPicPr>
          <p:cNvPr id="36" name="Picture 35">
            <a:extLst>
              <a:ext uri="{FF2B5EF4-FFF2-40B4-BE49-F238E27FC236}">
                <a16:creationId xmlns:a16="http://schemas.microsoft.com/office/drawing/2014/main" id="{2C0F3AAA-F075-4E0B-4091-E576B4EF7C8C}"/>
              </a:ext>
            </a:extLst>
          </p:cNvPr>
          <p:cNvPicPr>
            <a:picLocks noChangeAspect="1"/>
          </p:cNvPicPr>
          <p:nvPr/>
        </p:nvPicPr>
        <p:blipFill>
          <a:blip r:embed="rId5"/>
          <a:srcRect t="5448"/>
          <a:stretch>
            <a:fillRect/>
          </a:stretch>
        </p:blipFill>
        <p:spPr>
          <a:xfrm>
            <a:off x="1664208" y="1115568"/>
            <a:ext cx="8712610" cy="54919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Technologies &amp; Tools Used</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19</a:t>
            </a:r>
            <a:endParaRPr lang="en-US" sz="1000" dirty="0"/>
          </a:p>
        </p:txBody>
      </p:sp>
      <p:sp>
        <p:nvSpPr>
          <p:cNvPr id="7" name="Shape 3"/>
          <p:cNvSpPr/>
          <p:nvPr/>
        </p:nvSpPr>
        <p:spPr>
          <a:xfrm>
            <a:off x="640080" y="1417320"/>
            <a:ext cx="2331720" cy="841248"/>
          </a:xfrm>
          <a:prstGeom prst="roundRect">
            <a:avLst>
              <a:gd name="adj" fmla="val 8696"/>
            </a:avLst>
          </a:prstGeom>
          <a:solidFill>
            <a:srgbClr val="4472C4"/>
          </a:solidFill>
          <a:ln/>
        </p:spPr>
      </p:sp>
      <p:pic>
        <p:nvPicPr>
          <p:cNvPr id="8" name="Image 2" descr="/home/claude/work/icons/python.png"/>
          <p:cNvPicPr>
            <a:picLocks noChangeAspect="1"/>
          </p:cNvPicPr>
          <p:nvPr/>
        </p:nvPicPr>
        <p:blipFill>
          <a:blip r:embed="rId5"/>
          <a:stretch>
            <a:fillRect/>
          </a:stretch>
        </p:blipFill>
        <p:spPr>
          <a:xfrm>
            <a:off x="868680" y="1609344"/>
            <a:ext cx="457200" cy="457200"/>
          </a:xfrm>
          <a:prstGeom prst="rect">
            <a:avLst/>
          </a:prstGeom>
        </p:spPr>
      </p:pic>
      <p:sp>
        <p:nvSpPr>
          <p:cNvPr id="9" name="Text 4"/>
          <p:cNvSpPr/>
          <p:nvPr/>
        </p:nvSpPr>
        <p:spPr>
          <a:xfrm>
            <a:off x="1417320" y="1417320"/>
            <a:ext cx="1508760" cy="841248"/>
          </a:xfrm>
          <a:prstGeom prst="rect">
            <a:avLst/>
          </a:prstGeom>
          <a:noFill/>
          <a:ln/>
        </p:spPr>
        <p:txBody>
          <a:bodyPr wrap="square" rtlCol="0" anchor="ct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Python</a:t>
            </a:r>
            <a:endParaRPr lang="en-US" sz="1300" dirty="0"/>
          </a:p>
        </p:txBody>
      </p:sp>
      <p:sp>
        <p:nvSpPr>
          <p:cNvPr id="10" name="Text 5"/>
          <p:cNvSpPr/>
          <p:nvPr/>
        </p:nvSpPr>
        <p:spPr>
          <a:xfrm>
            <a:off x="3200400" y="1417320"/>
            <a:ext cx="8321040" cy="841248"/>
          </a:xfrm>
          <a:prstGeom prst="rect">
            <a:avLst/>
          </a:prstGeom>
          <a:noFill/>
          <a:ln/>
        </p:spPr>
        <p:txBody>
          <a:bodyPr wrap="square" rtlCol="0" anchor="ct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Core language for chatbot logic, NLP pipelines, and backend integration.</a:t>
            </a:r>
            <a:endParaRPr lang="en-US" sz="1400" dirty="0"/>
          </a:p>
        </p:txBody>
      </p:sp>
      <p:sp>
        <p:nvSpPr>
          <p:cNvPr id="11" name="Shape 6"/>
          <p:cNvSpPr/>
          <p:nvPr/>
        </p:nvSpPr>
        <p:spPr>
          <a:xfrm>
            <a:off x="640080" y="2377440"/>
            <a:ext cx="2331720" cy="841248"/>
          </a:xfrm>
          <a:prstGeom prst="roundRect">
            <a:avLst>
              <a:gd name="adj" fmla="val 8696"/>
            </a:avLst>
          </a:prstGeom>
          <a:solidFill>
            <a:srgbClr val="ED7D31"/>
          </a:solidFill>
          <a:ln/>
        </p:spPr>
      </p:sp>
      <p:pic>
        <p:nvPicPr>
          <p:cNvPr id="12" name="Image 3" descr="/home/claude/work/icons/nlp.png"/>
          <p:cNvPicPr>
            <a:picLocks noChangeAspect="1"/>
          </p:cNvPicPr>
          <p:nvPr/>
        </p:nvPicPr>
        <p:blipFill>
          <a:blip r:embed="rId6"/>
          <a:stretch>
            <a:fillRect/>
          </a:stretch>
        </p:blipFill>
        <p:spPr>
          <a:xfrm>
            <a:off x="868680" y="2569464"/>
            <a:ext cx="457200" cy="457200"/>
          </a:xfrm>
          <a:prstGeom prst="rect">
            <a:avLst/>
          </a:prstGeom>
        </p:spPr>
      </p:pic>
      <p:sp>
        <p:nvSpPr>
          <p:cNvPr id="13" name="Text 7"/>
          <p:cNvSpPr/>
          <p:nvPr/>
        </p:nvSpPr>
        <p:spPr>
          <a:xfrm>
            <a:off x="1417320" y="2377440"/>
            <a:ext cx="1508760" cy="841248"/>
          </a:xfrm>
          <a:prstGeom prst="rect">
            <a:avLst/>
          </a:prstGeom>
          <a:noFill/>
          <a:ln/>
        </p:spPr>
        <p:txBody>
          <a:bodyPr wrap="square" rtlCol="0" anchor="ct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NLP</a:t>
            </a:r>
            <a:endParaRPr lang="en-US" sz="1300" dirty="0"/>
          </a:p>
        </p:txBody>
      </p:sp>
      <p:sp>
        <p:nvSpPr>
          <p:cNvPr id="14" name="Text 8"/>
          <p:cNvSpPr/>
          <p:nvPr/>
        </p:nvSpPr>
        <p:spPr>
          <a:xfrm>
            <a:off x="3200400" y="2377440"/>
            <a:ext cx="8321040" cy="841248"/>
          </a:xfrm>
          <a:prstGeom prst="rect">
            <a:avLst/>
          </a:prstGeom>
          <a:noFill/>
          <a:ln/>
        </p:spPr>
        <p:txBody>
          <a:bodyPr wrap="square" rtlCol="0" anchor="ct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Text processing, tokenization, and intent &amp; entity extraction using spaCy / Transformers.</a:t>
            </a:r>
            <a:endParaRPr lang="en-US" sz="1400" dirty="0"/>
          </a:p>
        </p:txBody>
      </p:sp>
      <p:sp>
        <p:nvSpPr>
          <p:cNvPr id="15" name="Shape 9"/>
          <p:cNvSpPr/>
          <p:nvPr/>
        </p:nvSpPr>
        <p:spPr>
          <a:xfrm>
            <a:off x="640080" y="3337560"/>
            <a:ext cx="2331720" cy="841248"/>
          </a:xfrm>
          <a:prstGeom prst="roundRect">
            <a:avLst>
              <a:gd name="adj" fmla="val 8696"/>
            </a:avLst>
          </a:prstGeom>
          <a:solidFill>
            <a:srgbClr val="70AD47"/>
          </a:solidFill>
          <a:ln/>
        </p:spPr>
      </p:sp>
      <p:pic>
        <p:nvPicPr>
          <p:cNvPr id="16" name="Image 4" descr="/home/claude/work/icons/llm.png"/>
          <p:cNvPicPr>
            <a:picLocks noChangeAspect="1"/>
          </p:cNvPicPr>
          <p:nvPr/>
        </p:nvPicPr>
        <p:blipFill>
          <a:blip r:embed="rId7"/>
          <a:stretch>
            <a:fillRect/>
          </a:stretch>
        </p:blipFill>
        <p:spPr>
          <a:xfrm>
            <a:off x="868680" y="3529584"/>
            <a:ext cx="457200" cy="457200"/>
          </a:xfrm>
          <a:prstGeom prst="rect">
            <a:avLst/>
          </a:prstGeom>
        </p:spPr>
      </p:pic>
      <p:sp>
        <p:nvSpPr>
          <p:cNvPr id="17" name="Text 10"/>
          <p:cNvSpPr/>
          <p:nvPr/>
        </p:nvSpPr>
        <p:spPr>
          <a:xfrm>
            <a:off x="1417320" y="3337560"/>
            <a:ext cx="1508760" cy="841248"/>
          </a:xfrm>
          <a:prstGeom prst="rect">
            <a:avLst/>
          </a:prstGeom>
          <a:noFill/>
          <a:ln/>
        </p:spPr>
        <p:txBody>
          <a:bodyPr wrap="square" rtlCol="0" anchor="ct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LLM / Generative AI</a:t>
            </a:r>
            <a:endParaRPr lang="en-US" sz="1300" dirty="0"/>
          </a:p>
        </p:txBody>
      </p:sp>
      <p:sp>
        <p:nvSpPr>
          <p:cNvPr id="18" name="Text 11"/>
          <p:cNvSpPr/>
          <p:nvPr/>
        </p:nvSpPr>
        <p:spPr>
          <a:xfrm>
            <a:off x="3200400" y="3337560"/>
            <a:ext cx="8321040" cy="841248"/>
          </a:xfrm>
          <a:prstGeom prst="rect">
            <a:avLst/>
          </a:prstGeom>
          <a:noFill/>
          <a:ln/>
        </p:spPr>
        <p:txBody>
          <a:bodyPr wrap="square" rtlCol="0" anchor="ct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Powers context-aware, natural-language response generation grounded in retrieved knowledge.</a:t>
            </a:r>
            <a:endParaRPr lang="en-US" sz="1400" dirty="0"/>
          </a:p>
        </p:txBody>
      </p:sp>
      <p:sp>
        <p:nvSpPr>
          <p:cNvPr id="19" name="Shape 12"/>
          <p:cNvSpPr/>
          <p:nvPr/>
        </p:nvSpPr>
        <p:spPr>
          <a:xfrm>
            <a:off x="640080" y="4297680"/>
            <a:ext cx="2331720" cy="841248"/>
          </a:xfrm>
          <a:prstGeom prst="roundRect">
            <a:avLst>
              <a:gd name="adj" fmla="val 8696"/>
            </a:avLst>
          </a:prstGeom>
          <a:solidFill>
            <a:srgbClr val="4472C4"/>
          </a:solidFill>
          <a:ln/>
        </p:spPr>
      </p:sp>
      <p:pic>
        <p:nvPicPr>
          <p:cNvPr id="20" name="Image 5" descr="/home/claude/work/icons/database.png"/>
          <p:cNvPicPr>
            <a:picLocks noChangeAspect="1"/>
          </p:cNvPicPr>
          <p:nvPr/>
        </p:nvPicPr>
        <p:blipFill>
          <a:blip r:embed="rId8"/>
          <a:stretch>
            <a:fillRect/>
          </a:stretch>
        </p:blipFill>
        <p:spPr>
          <a:xfrm>
            <a:off x="868680" y="4489704"/>
            <a:ext cx="457200" cy="457200"/>
          </a:xfrm>
          <a:prstGeom prst="rect">
            <a:avLst/>
          </a:prstGeom>
        </p:spPr>
      </p:pic>
      <p:sp>
        <p:nvSpPr>
          <p:cNvPr id="21" name="Text 13"/>
          <p:cNvSpPr/>
          <p:nvPr/>
        </p:nvSpPr>
        <p:spPr>
          <a:xfrm>
            <a:off x="1417320" y="4297680"/>
            <a:ext cx="1508760" cy="841248"/>
          </a:xfrm>
          <a:prstGeom prst="rect">
            <a:avLst/>
          </a:prstGeom>
          <a:noFill/>
          <a:ln/>
        </p:spPr>
        <p:txBody>
          <a:bodyPr wrap="square" rtlCol="0" anchor="ct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Knowledge Base / Database</a:t>
            </a:r>
            <a:endParaRPr lang="en-US" sz="1300" dirty="0"/>
          </a:p>
        </p:txBody>
      </p:sp>
      <p:sp>
        <p:nvSpPr>
          <p:cNvPr id="22" name="Text 14"/>
          <p:cNvSpPr/>
          <p:nvPr/>
        </p:nvSpPr>
        <p:spPr>
          <a:xfrm>
            <a:off x="3200400" y="4297680"/>
            <a:ext cx="8321040" cy="841248"/>
          </a:xfrm>
          <a:prstGeom prst="rect">
            <a:avLst/>
          </a:prstGeom>
          <a:noFill/>
          <a:ln/>
        </p:spPr>
        <p:txBody>
          <a:bodyPr wrap="square" rtlCol="0" anchor="ct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Stores structured medical knowledge and supports fast semantic retrieval.</a:t>
            </a:r>
            <a:endParaRPr lang="en-US" sz="1400" dirty="0"/>
          </a:p>
        </p:txBody>
      </p:sp>
      <p:sp>
        <p:nvSpPr>
          <p:cNvPr id="23" name="Shape 15"/>
          <p:cNvSpPr/>
          <p:nvPr/>
        </p:nvSpPr>
        <p:spPr>
          <a:xfrm>
            <a:off x="640080" y="5257800"/>
            <a:ext cx="2331720" cy="841248"/>
          </a:xfrm>
          <a:prstGeom prst="roundRect">
            <a:avLst>
              <a:gd name="adj" fmla="val 8696"/>
            </a:avLst>
          </a:prstGeom>
          <a:solidFill>
            <a:srgbClr val="ED7D31"/>
          </a:solidFill>
          <a:ln/>
        </p:spPr>
      </p:sp>
      <p:pic>
        <p:nvPicPr>
          <p:cNvPr id="24" name="Image 6" descr="/home/claude/work/icons/mobile.png"/>
          <p:cNvPicPr>
            <a:picLocks noChangeAspect="1"/>
          </p:cNvPicPr>
          <p:nvPr/>
        </p:nvPicPr>
        <p:blipFill>
          <a:blip r:embed="rId9"/>
          <a:stretch>
            <a:fillRect/>
          </a:stretch>
        </p:blipFill>
        <p:spPr>
          <a:xfrm>
            <a:off x="868680" y="5449824"/>
            <a:ext cx="457200" cy="457200"/>
          </a:xfrm>
          <a:prstGeom prst="rect">
            <a:avLst/>
          </a:prstGeom>
        </p:spPr>
      </p:pic>
      <p:sp>
        <p:nvSpPr>
          <p:cNvPr id="25" name="Text 16"/>
          <p:cNvSpPr/>
          <p:nvPr/>
        </p:nvSpPr>
        <p:spPr>
          <a:xfrm>
            <a:off x="1417320" y="5257800"/>
            <a:ext cx="1508760" cy="841248"/>
          </a:xfrm>
          <a:prstGeom prst="rect">
            <a:avLst/>
          </a:prstGeom>
          <a:noFill/>
          <a:ln/>
        </p:spPr>
        <p:txBody>
          <a:bodyPr wrap="square" rtlCol="0" anchor="ct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Web / Mobile Interface</a:t>
            </a:r>
            <a:endParaRPr lang="en-US" sz="1300" dirty="0"/>
          </a:p>
        </p:txBody>
      </p:sp>
      <p:sp>
        <p:nvSpPr>
          <p:cNvPr id="26" name="Text 17"/>
          <p:cNvSpPr/>
          <p:nvPr/>
        </p:nvSpPr>
        <p:spPr>
          <a:xfrm>
            <a:off x="3200400" y="5257800"/>
            <a:ext cx="8321040" cy="841248"/>
          </a:xfrm>
          <a:prstGeom prst="rect">
            <a:avLst/>
          </a:prstGeom>
          <a:noFill/>
          <a:ln/>
        </p:spPr>
        <p:txBody>
          <a:bodyPr wrap="square" rtlCol="0" anchor="ct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Delivers the chatbot experience to users across web and mobile platforms.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Sample Chatbot Conversations</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22</a:t>
            </a:r>
            <a:endParaRPr lang="en-US" sz="1000" dirty="0"/>
          </a:p>
        </p:txBody>
      </p:sp>
      <p:sp>
        <p:nvSpPr>
          <p:cNvPr id="7" name="Shape 3"/>
          <p:cNvSpPr/>
          <p:nvPr/>
        </p:nvSpPr>
        <p:spPr>
          <a:xfrm>
            <a:off x="6035040" y="1417320"/>
            <a:ext cx="5029200" cy="777240"/>
          </a:xfrm>
          <a:prstGeom prst="roundRect">
            <a:avLst>
              <a:gd name="adj" fmla="val 14118"/>
            </a:avLst>
          </a:prstGeom>
          <a:solidFill>
            <a:srgbClr val="4472C4"/>
          </a:solidFill>
          <a:ln/>
        </p:spPr>
      </p:sp>
      <p:sp>
        <p:nvSpPr>
          <p:cNvPr id="8" name="Text 4"/>
          <p:cNvSpPr/>
          <p:nvPr/>
        </p:nvSpPr>
        <p:spPr>
          <a:xfrm>
            <a:off x="6217920" y="1417320"/>
            <a:ext cx="4663440" cy="777240"/>
          </a:xfrm>
          <a:prstGeom prst="rect">
            <a:avLst/>
          </a:prstGeom>
          <a:noFill/>
          <a:ln/>
        </p:spPr>
        <p:txBody>
          <a:bodyPr wrap="square"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I've had a headache and mild fever since yesterday.</a:t>
            </a:r>
            <a:endParaRPr lang="en-US" sz="1300" dirty="0"/>
          </a:p>
        </p:txBody>
      </p:sp>
      <p:sp>
        <p:nvSpPr>
          <p:cNvPr id="9" name="Shape 5"/>
          <p:cNvSpPr/>
          <p:nvPr/>
        </p:nvSpPr>
        <p:spPr>
          <a:xfrm>
            <a:off x="1097280" y="2331720"/>
            <a:ext cx="6309360" cy="1051560"/>
          </a:xfrm>
          <a:prstGeom prst="roundRect">
            <a:avLst>
              <a:gd name="adj" fmla="val 10435"/>
            </a:avLst>
          </a:prstGeom>
          <a:solidFill>
            <a:srgbClr val="F2F2F2"/>
          </a:solidFill>
          <a:ln w="12700">
            <a:solidFill>
              <a:srgbClr val="D9D9D9"/>
            </a:solidFill>
            <a:prstDash val="solid"/>
          </a:ln>
        </p:spPr>
      </p:sp>
      <p:sp>
        <p:nvSpPr>
          <p:cNvPr id="10" name="Shape 6"/>
          <p:cNvSpPr/>
          <p:nvPr/>
        </p:nvSpPr>
        <p:spPr>
          <a:xfrm>
            <a:off x="502920" y="2532888"/>
            <a:ext cx="502920" cy="502920"/>
          </a:xfrm>
          <a:prstGeom prst="ellipse">
            <a:avLst/>
          </a:prstGeom>
          <a:solidFill>
            <a:srgbClr val="44546A"/>
          </a:solidFill>
          <a:ln/>
        </p:spPr>
      </p:sp>
      <p:pic>
        <p:nvPicPr>
          <p:cNvPr id="11" name="Image 2" descr="/home/claude/work/icons/robot.png"/>
          <p:cNvPicPr>
            <a:picLocks noChangeAspect="1"/>
          </p:cNvPicPr>
          <p:nvPr/>
        </p:nvPicPr>
        <p:blipFill>
          <a:blip r:embed="rId5"/>
          <a:stretch>
            <a:fillRect/>
          </a:stretch>
        </p:blipFill>
        <p:spPr>
          <a:xfrm>
            <a:off x="608076" y="2638044"/>
            <a:ext cx="292608" cy="292608"/>
          </a:xfrm>
          <a:prstGeom prst="rect">
            <a:avLst/>
          </a:prstGeom>
        </p:spPr>
      </p:pic>
      <p:sp>
        <p:nvSpPr>
          <p:cNvPr id="12" name="Text 7"/>
          <p:cNvSpPr/>
          <p:nvPr/>
        </p:nvSpPr>
        <p:spPr>
          <a:xfrm>
            <a:off x="1280160" y="2331720"/>
            <a:ext cx="5943600" cy="1051560"/>
          </a:xfrm>
          <a:prstGeom prst="rect">
            <a:avLst/>
          </a:prstGeom>
          <a:noFill/>
          <a:ln/>
        </p:spPr>
        <p:txBody>
          <a:bodyPr wrap="square" rtlCol="0" anchor="ct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These can be common symptoms of a viral infection. Stay hydrated and monitor your temperature. If fever exceeds 102°F or persists beyond 3 days, please consult a doctor.</a:t>
            </a:r>
            <a:endParaRPr lang="en-US" sz="1250" dirty="0"/>
          </a:p>
        </p:txBody>
      </p:sp>
      <p:sp>
        <p:nvSpPr>
          <p:cNvPr id="13" name="Shape 8"/>
          <p:cNvSpPr/>
          <p:nvPr/>
        </p:nvSpPr>
        <p:spPr>
          <a:xfrm>
            <a:off x="6035040" y="3703320"/>
            <a:ext cx="5029200" cy="777240"/>
          </a:xfrm>
          <a:prstGeom prst="roundRect">
            <a:avLst>
              <a:gd name="adj" fmla="val 14118"/>
            </a:avLst>
          </a:prstGeom>
          <a:solidFill>
            <a:srgbClr val="4472C4"/>
          </a:solidFill>
          <a:ln/>
        </p:spPr>
      </p:sp>
      <p:sp>
        <p:nvSpPr>
          <p:cNvPr id="14" name="Text 9"/>
          <p:cNvSpPr/>
          <p:nvPr/>
        </p:nvSpPr>
        <p:spPr>
          <a:xfrm>
            <a:off x="6217920" y="3703320"/>
            <a:ext cx="4663440" cy="777240"/>
          </a:xfrm>
          <a:prstGeom prst="rect">
            <a:avLst/>
          </a:prstGeom>
          <a:noFill/>
          <a:ln/>
        </p:spPr>
        <p:txBody>
          <a:bodyPr wrap="square"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What is the recommended dosage of paracetamol for adults?</a:t>
            </a:r>
            <a:endParaRPr lang="en-US" sz="1300" dirty="0"/>
          </a:p>
        </p:txBody>
      </p:sp>
      <p:sp>
        <p:nvSpPr>
          <p:cNvPr id="15" name="Shape 10"/>
          <p:cNvSpPr/>
          <p:nvPr/>
        </p:nvSpPr>
        <p:spPr>
          <a:xfrm>
            <a:off x="1097280" y="4617720"/>
            <a:ext cx="6309360" cy="1051560"/>
          </a:xfrm>
          <a:prstGeom prst="roundRect">
            <a:avLst>
              <a:gd name="adj" fmla="val 10435"/>
            </a:avLst>
          </a:prstGeom>
          <a:solidFill>
            <a:srgbClr val="F2F2F2"/>
          </a:solidFill>
          <a:ln w="12700">
            <a:solidFill>
              <a:srgbClr val="D9D9D9"/>
            </a:solidFill>
            <a:prstDash val="solid"/>
          </a:ln>
        </p:spPr>
      </p:sp>
      <p:sp>
        <p:nvSpPr>
          <p:cNvPr id="16" name="Shape 11"/>
          <p:cNvSpPr/>
          <p:nvPr/>
        </p:nvSpPr>
        <p:spPr>
          <a:xfrm>
            <a:off x="502920" y="4818888"/>
            <a:ext cx="502920" cy="502920"/>
          </a:xfrm>
          <a:prstGeom prst="ellipse">
            <a:avLst/>
          </a:prstGeom>
          <a:solidFill>
            <a:srgbClr val="44546A"/>
          </a:solidFill>
          <a:ln/>
        </p:spPr>
      </p:sp>
      <p:pic>
        <p:nvPicPr>
          <p:cNvPr id="17" name="Image 3" descr="/home/claude/work/icons/robot.png"/>
          <p:cNvPicPr>
            <a:picLocks noChangeAspect="1"/>
          </p:cNvPicPr>
          <p:nvPr/>
        </p:nvPicPr>
        <p:blipFill>
          <a:blip r:embed="rId5"/>
          <a:stretch>
            <a:fillRect/>
          </a:stretch>
        </p:blipFill>
        <p:spPr>
          <a:xfrm>
            <a:off x="608076" y="4924044"/>
            <a:ext cx="292608" cy="292608"/>
          </a:xfrm>
          <a:prstGeom prst="rect">
            <a:avLst/>
          </a:prstGeom>
        </p:spPr>
      </p:pic>
      <p:sp>
        <p:nvSpPr>
          <p:cNvPr id="18" name="Text 12"/>
          <p:cNvSpPr/>
          <p:nvPr/>
        </p:nvSpPr>
        <p:spPr>
          <a:xfrm>
            <a:off x="1280160" y="4617720"/>
            <a:ext cx="5943600" cy="1051560"/>
          </a:xfrm>
          <a:prstGeom prst="rect">
            <a:avLst/>
          </a:prstGeom>
          <a:noFill/>
          <a:ln/>
        </p:spPr>
        <p:txBody>
          <a:bodyPr wrap="square" rtlCol="0" anchor="ct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typical adult dose is 500–1000mg every 4–6 hours, not exceeding 4g/day. Please confirm with a pharmacist or physician for your specific case.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199497" y="29260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Future Enhancements</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25</a:t>
            </a:r>
            <a:endParaRPr lang="en-US" sz="1000" dirty="0"/>
          </a:p>
        </p:txBody>
      </p:sp>
      <p:pic>
        <p:nvPicPr>
          <p:cNvPr id="7" name="Image 2" descr="/home/claude/work/icons/rocket.png"/>
          <p:cNvPicPr>
            <a:picLocks noChangeAspect="1"/>
          </p:cNvPicPr>
          <p:nvPr/>
        </p:nvPicPr>
        <p:blipFill>
          <a:blip r:embed="rId5"/>
          <a:stretch>
            <a:fillRect/>
          </a:stretch>
        </p:blipFill>
        <p:spPr>
          <a:xfrm>
            <a:off x="822960" y="1508760"/>
            <a:ext cx="310896" cy="310896"/>
          </a:xfrm>
          <a:prstGeom prst="rect">
            <a:avLst/>
          </a:prstGeom>
        </p:spPr>
      </p:pic>
      <p:sp>
        <p:nvSpPr>
          <p:cNvPr id="8" name="Text 3"/>
          <p:cNvSpPr/>
          <p:nvPr/>
        </p:nvSpPr>
        <p:spPr>
          <a:xfrm>
            <a:off x="1371600" y="1463040"/>
            <a:ext cx="10058400" cy="621792"/>
          </a:xfrm>
          <a:prstGeom prst="rect">
            <a:avLst/>
          </a:prstGeom>
          <a:noFill/>
          <a:ln/>
        </p:spPr>
        <p:txBody>
          <a:bodyPr wrap="square" rtlCol="0" anchor="ct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Expand the knowledge base to cover more specialties and regional health guidelines.</a:t>
            </a:r>
            <a:endParaRPr lang="en-US" sz="1700" dirty="0"/>
          </a:p>
        </p:txBody>
      </p:sp>
      <p:pic>
        <p:nvPicPr>
          <p:cNvPr id="9" name="Image 3" descr="/home/claude/work/icons/rocket.png"/>
          <p:cNvPicPr>
            <a:picLocks noChangeAspect="1"/>
          </p:cNvPicPr>
          <p:nvPr/>
        </p:nvPicPr>
        <p:blipFill>
          <a:blip r:embed="rId5"/>
          <a:stretch>
            <a:fillRect/>
          </a:stretch>
        </p:blipFill>
        <p:spPr>
          <a:xfrm>
            <a:off x="822960" y="2286000"/>
            <a:ext cx="310896" cy="310896"/>
          </a:xfrm>
          <a:prstGeom prst="rect">
            <a:avLst/>
          </a:prstGeom>
        </p:spPr>
      </p:pic>
      <p:sp>
        <p:nvSpPr>
          <p:cNvPr id="10" name="Text 4"/>
          <p:cNvSpPr/>
          <p:nvPr/>
        </p:nvSpPr>
        <p:spPr>
          <a:xfrm>
            <a:off x="1371600" y="2240280"/>
            <a:ext cx="10058400" cy="621792"/>
          </a:xfrm>
          <a:prstGeom prst="rect">
            <a:avLst/>
          </a:prstGeom>
          <a:noFill/>
          <a:ln/>
        </p:spPr>
        <p:txBody>
          <a:bodyPr wrap="square" rtlCol="0" anchor="ct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Integrate multilingual support for wider accessibility.</a:t>
            </a:r>
            <a:endParaRPr lang="en-US" sz="1700" dirty="0"/>
          </a:p>
        </p:txBody>
      </p:sp>
      <p:pic>
        <p:nvPicPr>
          <p:cNvPr id="11" name="Image 4" descr="/home/claude/work/icons/rocket.png"/>
          <p:cNvPicPr>
            <a:picLocks noChangeAspect="1"/>
          </p:cNvPicPr>
          <p:nvPr/>
        </p:nvPicPr>
        <p:blipFill>
          <a:blip r:embed="rId5"/>
          <a:stretch>
            <a:fillRect/>
          </a:stretch>
        </p:blipFill>
        <p:spPr>
          <a:xfrm>
            <a:off x="822960" y="3063240"/>
            <a:ext cx="310896" cy="310896"/>
          </a:xfrm>
          <a:prstGeom prst="rect">
            <a:avLst/>
          </a:prstGeom>
        </p:spPr>
      </p:pic>
      <p:sp>
        <p:nvSpPr>
          <p:cNvPr id="12" name="Text 5"/>
          <p:cNvSpPr/>
          <p:nvPr/>
        </p:nvSpPr>
        <p:spPr>
          <a:xfrm>
            <a:off x="1371600" y="3017520"/>
            <a:ext cx="10058400" cy="621792"/>
          </a:xfrm>
          <a:prstGeom prst="rect">
            <a:avLst/>
          </a:prstGeom>
          <a:noFill/>
          <a:ln/>
        </p:spPr>
        <p:txBody>
          <a:bodyPr wrap="square" rtlCol="0" anchor="ct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Add voice-based interaction for hands-free use.</a:t>
            </a:r>
            <a:endParaRPr lang="en-US" sz="1700" dirty="0"/>
          </a:p>
        </p:txBody>
      </p:sp>
      <p:pic>
        <p:nvPicPr>
          <p:cNvPr id="13" name="Image 5" descr="/home/claude/work/icons/rocket.png"/>
          <p:cNvPicPr>
            <a:picLocks noChangeAspect="1"/>
          </p:cNvPicPr>
          <p:nvPr/>
        </p:nvPicPr>
        <p:blipFill>
          <a:blip r:embed="rId5"/>
          <a:stretch>
            <a:fillRect/>
          </a:stretch>
        </p:blipFill>
        <p:spPr>
          <a:xfrm>
            <a:off x="822960" y="3840480"/>
            <a:ext cx="310896" cy="310896"/>
          </a:xfrm>
          <a:prstGeom prst="rect">
            <a:avLst/>
          </a:prstGeom>
        </p:spPr>
      </p:pic>
      <p:sp>
        <p:nvSpPr>
          <p:cNvPr id="14" name="Text 6"/>
          <p:cNvSpPr/>
          <p:nvPr/>
        </p:nvSpPr>
        <p:spPr>
          <a:xfrm>
            <a:off x="1371600" y="3794760"/>
            <a:ext cx="10058400" cy="621792"/>
          </a:xfrm>
          <a:prstGeom prst="rect">
            <a:avLst/>
          </a:prstGeom>
          <a:noFill/>
          <a:ln/>
        </p:spPr>
        <p:txBody>
          <a:bodyPr wrap="square" rtlCol="0" anchor="ct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Connect with wearable/health-tracking data for more personalized responses.</a:t>
            </a:r>
            <a:endParaRPr lang="en-US" sz="1700" dirty="0"/>
          </a:p>
        </p:txBody>
      </p:sp>
      <p:pic>
        <p:nvPicPr>
          <p:cNvPr id="15" name="Image 6" descr="/home/claude/work/icons/rocket.png"/>
          <p:cNvPicPr>
            <a:picLocks noChangeAspect="1"/>
          </p:cNvPicPr>
          <p:nvPr/>
        </p:nvPicPr>
        <p:blipFill>
          <a:blip r:embed="rId5"/>
          <a:stretch>
            <a:fillRect/>
          </a:stretch>
        </p:blipFill>
        <p:spPr>
          <a:xfrm>
            <a:off x="822960" y="4617720"/>
            <a:ext cx="310896" cy="310896"/>
          </a:xfrm>
          <a:prstGeom prst="rect">
            <a:avLst/>
          </a:prstGeom>
        </p:spPr>
      </p:pic>
      <p:sp>
        <p:nvSpPr>
          <p:cNvPr id="16" name="Text 7"/>
          <p:cNvSpPr/>
          <p:nvPr/>
        </p:nvSpPr>
        <p:spPr>
          <a:xfrm>
            <a:off x="1371600" y="4572000"/>
            <a:ext cx="10058400" cy="621792"/>
          </a:xfrm>
          <a:prstGeom prst="rect">
            <a:avLst/>
          </a:prstGeom>
          <a:noFill/>
          <a:ln/>
        </p:spPr>
        <p:txBody>
          <a:bodyPr wrap="square" rtlCol="0" anchor="ct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Introduce human-in-the-loop escalation for high-risk queries.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Shape 0"/>
          <p:cNvSpPr/>
          <p:nvPr/>
        </p:nvSpPr>
        <p:spPr>
          <a:xfrm>
            <a:off x="1280160" y="292608"/>
            <a:ext cx="9628632" cy="640080"/>
          </a:xfrm>
          <a:prstGeom prst="rect">
            <a:avLst/>
          </a:prstGeom>
          <a:solidFill>
            <a:srgbClr val="FFFF00"/>
          </a:solidFill>
          <a:ln/>
        </p:spPr>
      </p:sp>
      <p:sp>
        <p:nvSpPr>
          <p:cNvPr id="5" name="Text 1"/>
          <p:cNvSpPr/>
          <p:nvPr/>
        </p:nvSpPr>
        <p:spPr>
          <a:xfrm>
            <a:off x="1280160" y="292608"/>
            <a:ext cx="9628632" cy="640080"/>
          </a:xfrm>
          <a:prstGeom prst="rect">
            <a:avLst/>
          </a:prstGeom>
          <a:noFill/>
          <a:ln/>
        </p:spPr>
        <p:txBody>
          <a:bodyPr wrap="square"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Conclusion</a:t>
            </a:r>
            <a:endParaRPr lang="en-US" sz="2800" dirty="0"/>
          </a:p>
        </p:txBody>
      </p:sp>
      <p:sp>
        <p:nvSpPr>
          <p:cNvPr id="6" name="Text 2"/>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26</a:t>
            </a:r>
            <a:endParaRPr lang="en-US" sz="1000" dirty="0"/>
          </a:p>
        </p:txBody>
      </p:sp>
      <p:sp>
        <p:nvSpPr>
          <p:cNvPr id="7" name="Text 3"/>
          <p:cNvSpPr/>
          <p:nvPr/>
        </p:nvSpPr>
        <p:spPr>
          <a:xfrm>
            <a:off x="640080" y="1417320"/>
            <a:ext cx="10881360" cy="4846320"/>
          </a:xfrm>
          <a:prstGeom prst="rect">
            <a:avLst/>
          </a:prstGeom>
          <a:noFill/>
          <a:ln/>
        </p:spPr>
        <p:txBody>
          <a:bodyPr wrap="square" rtlCol="0" anchor="t"/>
          <a:lstStyle/>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system combines </a:t>
            </a:r>
            <a:r>
              <a:rPr lang="en-IN" sz="2000" b="1" dirty="0">
                <a:latin typeface="Times New Roman" panose="02020603050405020304" pitchFamily="18" charset="0"/>
                <a:cs typeface="Times New Roman" panose="02020603050405020304" pitchFamily="18" charset="0"/>
              </a:rPr>
              <a:t>Conversational AI with healthcare domain knowledge</a:t>
            </a:r>
            <a:r>
              <a:rPr lang="en-IN" sz="2000" dirty="0">
                <a:latin typeface="Times New Roman" panose="02020603050405020304" pitchFamily="18" charset="0"/>
                <a:cs typeface="Times New Roman" panose="02020603050405020304" pitchFamily="18" charset="0"/>
              </a:rPr>
              <a:t>.</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understands natural-language healthcare queries and retrieves relevant information.</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generates context-aware and user-friendly responses.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Knowledge retrieval improves the relevance of AI-generated answers.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Safety validation helps prevent inappropriate medical recommendations.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can serve as an intelligent </a:t>
            </a:r>
            <a:r>
              <a:rPr lang="en-IN" sz="2000" b="1" dirty="0">
                <a:latin typeface="Times New Roman" panose="02020603050405020304" pitchFamily="18" charset="0"/>
                <a:cs typeface="Times New Roman" panose="02020603050405020304" pitchFamily="18" charset="0"/>
              </a:rPr>
              <a:t>healthcare information assistant</a:t>
            </a:r>
            <a:r>
              <a:rPr lang="en-IN" sz="2000" dirty="0">
                <a:latin typeface="Times New Roman" panose="02020603050405020304" pitchFamily="18" charset="0"/>
                <a:cs typeface="Times New Roman" panose="02020603050405020304" pitchFamily="18" charset="0"/>
              </a:rPr>
              <a:t>, while professional medical consultation remains necessary for diagnosis and treatment.</a:t>
            </a:r>
          </a:p>
          <a:p>
            <a:pPr algn="just">
              <a:lnSpc>
                <a:spcPct val="150000"/>
              </a:lnSpc>
              <a:spcAft>
                <a:spcPts val="1200"/>
              </a:spcAft>
              <a:buSzPct val="100000"/>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home/claude/work/assets/logo_left.png"/>
          <p:cNvPicPr>
            <a:picLocks noChangeAspect="1"/>
          </p:cNvPicPr>
          <p:nvPr/>
        </p:nvPicPr>
        <p:blipFill>
          <a:blip r:embed="rId3"/>
          <a:stretch>
            <a:fillRect/>
          </a:stretch>
        </p:blipFill>
        <p:spPr>
          <a:xfrm>
            <a:off x="274320" y="201168"/>
            <a:ext cx="868680" cy="914400"/>
          </a:xfrm>
          <a:prstGeom prst="rect">
            <a:avLst/>
          </a:prstGeom>
        </p:spPr>
      </p:pic>
      <p:pic>
        <p:nvPicPr>
          <p:cNvPr id="3" name="Image 1" descr="/home/claude/work/assets/logo_right.jpg"/>
          <p:cNvPicPr>
            <a:picLocks noChangeAspect="1"/>
          </p:cNvPicPr>
          <p:nvPr/>
        </p:nvPicPr>
        <p:blipFill>
          <a:blip r:embed="rId4"/>
          <a:stretch>
            <a:fillRect/>
          </a:stretch>
        </p:blipFill>
        <p:spPr>
          <a:xfrm>
            <a:off x="11064240" y="201168"/>
            <a:ext cx="868680" cy="877824"/>
          </a:xfrm>
          <a:prstGeom prst="rect">
            <a:avLst/>
          </a:prstGeom>
        </p:spPr>
      </p:pic>
      <p:sp>
        <p:nvSpPr>
          <p:cNvPr id="4" name="Text 0"/>
          <p:cNvSpPr/>
          <p:nvPr/>
        </p:nvSpPr>
        <p:spPr>
          <a:xfrm>
            <a:off x="11658600" y="6446520"/>
            <a:ext cx="365760" cy="274320"/>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28</a:t>
            </a:r>
            <a:endParaRPr lang="en-US" sz="1000" dirty="0"/>
          </a:p>
        </p:txBody>
      </p:sp>
      <p:sp>
        <p:nvSpPr>
          <p:cNvPr id="5" name="Text 1"/>
          <p:cNvSpPr/>
          <p:nvPr/>
        </p:nvSpPr>
        <p:spPr>
          <a:xfrm>
            <a:off x="914400" y="2834640"/>
            <a:ext cx="10360152" cy="1188720"/>
          </a:xfrm>
          <a:prstGeom prst="rect">
            <a:avLst/>
          </a:prstGeom>
          <a:noFill/>
          <a:ln/>
        </p:spPr>
        <p:txBody>
          <a:bodyPr wrap="square" rtlCol="0" anchor="ctr"/>
          <a:lstStyle/>
          <a:p>
            <a:pPr marL="0" indent="0" algn="ctr">
              <a:buNone/>
            </a:pPr>
            <a:r>
              <a:rPr lang="en-US" sz="3400" b="1" dirty="0">
                <a:solidFill>
                  <a:srgbClr val="1F3864"/>
                </a:solidFill>
                <a:latin typeface="Times New Roman" pitchFamily="34" charset="0"/>
                <a:ea typeface="Times New Roman" pitchFamily="34" charset="-122"/>
                <a:cs typeface="Times New Roman" pitchFamily="34" charset="-120"/>
              </a:rPr>
              <a:t>THANK YOU</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1537</Words>
  <Application>Microsoft Office PowerPoint</Application>
  <PresentationFormat>Widescreen</PresentationFormat>
  <Paragraphs>206</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thug life</cp:lastModifiedBy>
  <cp:revision>2</cp:revision>
  <dcterms:created xsi:type="dcterms:W3CDTF">2026-08-13T02:57:12Z</dcterms:created>
  <dcterms:modified xsi:type="dcterms:W3CDTF">2026-08-13T04:35:18Z</dcterms:modified>
</cp:coreProperties>
</file>